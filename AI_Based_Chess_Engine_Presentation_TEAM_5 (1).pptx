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Merriweather" panose="00000500000000000000" pitchFamily="2" charset="0"/>
      <p:bold r:id="rId10"/>
    </p:embeddedFont>
    <p:embeddedFont>
      <p:font typeface="Merriweather Sans" pitchFamily="2" charset="0"/>
      <p:regular r:id="rId11"/>
      <p:bold r:id="rId12"/>
      <p: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2F0"/>
    <a:srgbClr val="008069"/>
    <a:srgbClr val="005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78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55c25d5-887b-44e9-8d71-79e7e48b8c1f"/>
          <p:cNvSpPr/>
          <p:nvPr/>
        </p:nvSpPr>
        <p:spPr>
          <a:xfrm>
            <a:off x="342900" y="154884"/>
            <a:ext cx="544353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38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Team 5 </a:t>
            </a:r>
            <a:endParaRPr lang="en-US" sz="3380" dirty="0"/>
          </a:p>
        </p:txBody>
      </p:sp>
      <p:sp>
        <p:nvSpPr>
          <p:cNvPr id="3" name="d864c80e-3fae-459e-83b2-6a3ae7b31182"/>
          <p:cNvSpPr/>
          <p:nvPr/>
        </p:nvSpPr>
        <p:spPr>
          <a:xfrm>
            <a:off x="342900" y="2314575"/>
            <a:ext cx="5443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u="sng" dirty="0">
                <a:solidFill>
                  <a:srgbClr val="0080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Contributors</a:t>
            </a:r>
            <a:endParaRPr lang="en-US" sz="1690" b="1" u="sng" dirty="0"/>
          </a:p>
        </p:txBody>
      </p:sp>
      <p:sp>
        <p:nvSpPr>
          <p:cNvPr id="4" name="8384d168-26e2-47b0-a510-078706e6c2a0"/>
          <p:cNvSpPr/>
          <p:nvPr/>
        </p:nvSpPr>
        <p:spPr>
          <a:xfrm>
            <a:off x="342900" y="2793724"/>
            <a:ext cx="542925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" indent="-68580">
              <a:lnSpc>
                <a:spcPts val="1350"/>
              </a:lnSpc>
              <a:buSzPct val="100000"/>
              <a:buChar char="•"/>
            </a:pPr>
            <a:r>
              <a:rPr lang="en-US" sz="1050" b="1" dirty="0">
                <a:solidFill>
                  <a:srgbClr val="008069"/>
                </a:solidFill>
              </a:rPr>
              <a:t>BIKASH PRADHAN         13030523022</a:t>
            </a:r>
          </a:p>
          <a:p>
            <a:pPr marL="68580" indent="-68580">
              <a:lnSpc>
                <a:spcPts val="1350"/>
              </a:lnSpc>
              <a:buSzPct val="100000"/>
              <a:buChar char="•"/>
            </a:pPr>
            <a:r>
              <a:rPr lang="en-US" sz="1050" b="1" dirty="0">
                <a:solidFill>
                  <a:srgbClr val="008069"/>
                </a:solidFill>
              </a:rPr>
              <a:t>DEBAGNIK DEY                13030523024</a:t>
            </a:r>
          </a:p>
          <a:p>
            <a:pPr marL="68580" indent="-68580">
              <a:lnSpc>
                <a:spcPts val="1350"/>
              </a:lnSpc>
              <a:buSzPct val="100000"/>
              <a:buChar char="•"/>
            </a:pPr>
            <a:r>
              <a:rPr lang="en-US" sz="1050" b="1" dirty="0">
                <a:solidFill>
                  <a:srgbClr val="008069"/>
                </a:solidFill>
              </a:rPr>
              <a:t>SANDIP SEN                      13030523048</a:t>
            </a:r>
          </a:p>
          <a:p>
            <a:pPr marL="68580" indent="-68580">
              <a:lnSpc>
                <a:spcPts val="1350"/>
              </a:lnSpc>
              <a:buSzPct val="100000"/>
              <a:buFontTx/>
              <a:buChar char="•"/>
            </a:pPr>
            <a:r>
              <a:rPr lang="en-US" sz="1050" b="1" dirty="0">
                <a:solidFill>
                  <a:srgbClr val="008069"/>
                </a:solidFill>
              </a:rPr>
              <a:t>TIRTHES SAMANTA        13030523059</a:t>
            </a:r>
          </a:p>
          <a:p>
            <a:pPr marL="68580" indent="-68580">
              <a:lnSpc>
                <a:spcPts val="1350"/>
              </a:lnSpc>
              <a:buSzPct val="100000"/>
              <a:buChar char="•"/>
            </a:pPr>
            <a:endParaRPr lang="en-US" sz="900" dirty="0"/>
          </a:p>
          <a:p>
            <a:pPr marL="68580" indent="-68580">
              <a:lnSpc>
                <a:spcPts val="1350"/>
              </a:lnSpc>
              <a:buSzPct val="100000"/>
              <a:buChar char="•"/>
            </a:pPr>
            <a:endParaRPr lang="en-US" sz="900" dirty="0"/>
          </a:p>
        </p:txBody>
      </p:sp>
      <p:sp>
        <p:nvSpPr>
          <p:cNvPr id="7" name="d864c80e-3fae-459e-83b2-6a3ae7b31182">
            <a:extLst>
              <a:ext uri="{FF2B5EF4-FFF2-40B4-BE49-F238E27FC236}">
                <a16:creationId xmlns:a16="http://schemas.microsoft.com/office/drawing/2014/main" id="{20BFD6E8-783F-8BC4-7DDB-BE2D031120D6}"/>
              </a:ext>
            </a:extLst>
          </p:cNvPr>
          <p:cNvSpPr/>
          <p:nvPr/>
        </p:nvSpPr>
        <p:spPr>
          <a:xfrm>
            <a:off x="342900" y="1417981"/>
            <a:ext cx="5443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:- AI Chess Engine</a:t>
            </a:r>
            <a:endParaRPr lang="en-US" sz="2000" dirty="0">
              <a:solidFill>
                <a:srgbClr val="005046"/>
              </a:solidFill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c1dc7d-026a-4c51-a4e1-87c7ab0abb89"/>
          <p:cNvSpPr/>
          <p:nvPr/>
        </p:nvSpPr>
        <p:spPr>
          <a:xfrm>
            <a:off x="342900" y="342900"/>
            <a:ext cx="84939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Purpose and Chess Engine Challenge</a:t>
            </a:r>
            <a:endParaRPr lang="en-US" sz="2700" dirty="0"/>
          </a:p>
        </p:txBody>
      </p:sp>
      <p:sp>
        <p:nvSpPr>
          <p:cNvPr id="3" name="778e464d-b252-4a7f-b3e4-5e599b689a8c"/>
          <p:cNvSpPr/>
          <p:nvPr/>
        </p:nvSpPr>
        <p:spPr>
          <a:xfrm>
            <a:off x="342900" y="857250"/>
            <a:ext cx="641508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34"/>
              </a:lnSpc>
              <a:buNone/>
            </a:pPr>
            <a:r>
              <a:rPr lang="en-US" sz="1130" dirty="0">
                <a:solidFill>
                  <a:srgbClr val="005046">
                    <a:alpha val="8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Chess serves as a classic benchmark for artificial intelligence, requiring a perfect blend of rigid rule enforcement and heuristic-based decision making. This project aims to build a functional chess engine in Python that handles the complexities of the game while providing a competitive AI opponent.</a:t>
            </a:r>
            <a:endParaRPr lang="en-US" sz="1130" dirty="0"/>
          </a:p>
        </p:txBody>
      </p:sp>
      <p:sp>
        <p:nvSpPr>
          <p:cNvPr id="4" name="d4009108-7f98-4f9c-b5f7-7f38bc52719e"/>
          <p:cNvSpPr/>
          <p:nvPr/>
        </p:nvSpPr>
        <p:spPr>
          <a:xfrm>
            <a:off x="342900" y="2128838"/>
            <a:ext cx="84939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0080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 Statement</a:t>
            </a:r>
            <a:endParaRPr lang="en-US" sz="1690" dirty="0"/>
          </a:p>
        </p:txBody>
      </p:sp>
      <p:grpSp>
        <p:nvGrpSpPr>
          <p:cNvPr id="19" name="group-UnFNnm2YMgAd4QiLmDbfo"/>
          <p:cNvGrpSpPr/>
          <p:nvPr/>
        </p:nvGrpSpPr>
        <p:grpSpPr>
          <a:xfrm>
            <a:off x="342900" y="2614613"/>
            <a:ext cx="2671763" cy="1985963"/>
            <a:chOff x="342900" y="2614613"/>
            <a:chExt cx="2671763" cy="1985963"/>
          </a:xfrm>
        </p:grpSpPr>
        <p:sp>
          <p:nvSpPr>
            <p:cNvPr id="5" name="34575bf6-bf5d-4156-a2a7-85fdcf4795eb"/>
            <p:cNvSpPr/>
            <p:nvPr/>
          </p:nvSpPr>
          <p:spPr>
            <a:xfrm>
              <a:off x="342900" y="2614613"/>
              <a:ext cx="2671763" cy="1985963"/>
            </a:xfrm>
            <a:prstGeom prst="roundRect">
              <a:avLst>
                <a:gd name="adj" fmla="val 5755"/>
              </a:avLst>
            </a:prstGeom>
            <a:solidFill>
              <a:srgbClr val="CEE7E3"/>
            </a:solidFill>
            <a:ln w="9961">
              <a:solidFill>
                <a:srgbClr val="B7DBD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8" name="slidesai_R3Xr5XTZ::icon-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644" y="2850356"/>
              <a:ext cx="342900" cy="342900"/>
            </a:xfrm>
            <a:prstGeom prst="rect">
              <a:avLst/>
            </a:prstGeom>
          </p:spPr>
        </p:pic>
        <p:sp>
          <p:nvSpPr>
            <p:cNvPr id="9" name="b0c0978f-fb8b-4aba-bd13-efe188b62c98"/>
            <p:cNvSpPr/>
            <p:nvPr/>
          </p:nvSpPr>
          <p:spPr>
            <a:xfrm>
              <a:off x="578644" y="3364706"/>
              <a:ext cx="2228850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30" b="1" dirty="0">
                  <a:solidFill>
                    <a:srgbClr val="005046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1. State Management</a:t>
              </a:r>
              <a:endParaRPr lang="en-US" sz="1130" dirty="0"/>
            </a:p>
          </p:txBody>
        </p:sp>
        <p:sp>
          <p:nvSpPr>
            <p:cNvPr id="10" name="7aea57ca-d5bc-44e8-adac-71ab3fc4887a"/>
            <p:cNvSpPr/>
            <p:nvPr/>
          </p:nvSpPr>
          <p:spPr>
            <a:xfrm>
              <a:off x="578644" y="3679031"/>
              <a:ext cx="2214563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900" dirty="0">
                  <a:solidFill>
                    <a:srgbClr val="005046">
                      <a:alpha val="80000"/>
                    </a:srgbClr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Accurately tracking 32 pieces across 64 squares through thousands of possible permutations.</a:t>
              </a:r>
              <a:endParaRPr lang="en-US" sz="900" dirty="0"/>
            </a:p>
          </p:txBody>
        </p:sp>
      </p:grpSp>
      <p:grpSp>
        <p:nvGrpSpPr>
          <p:cNvPr id="20" name="group-zDLCN1MclDLUgvNqIhgM1"/>
          <p:cNvGrpSpPr/>
          <p:nvPr/>
        </p:nvGrpSpPr>
        <p:grpSpPr>
          <a:xfrm>
            <a:off x="3236119" y="2614613"/>
            <a:ext cx="2671763" cy="1985963"/>
            <a:chOff x="3236119" y="2614613"/>
            <a:chExt cx="2671763" cy="1985963"/>
          </a:xfrm>
        </p:grpSpPr>
        <p:sp>
          <p:nvSpPr>
            <p:cNvPr id="6" name="f1ac4a00-710a-4d5b-aad5-37fdce516153"/>
            <p:cNvSpPr/>
            <p:nvPr/>
          </p:nvSpPr>
          <p:spPr>
            <a:xfrm>
              <a:off x="3236119" y="2614613"/>
              <a:ext cx="2671763" cy="1985963"/>
            </a:xfrm>
            <a:prstGeom prst="roundRect">
              <a:avLst>
                <a:gd name="adj" fmla="val 5755"/>
              </a:avLst>
            </a:prstGeom>
            <a:solidFill>
              <a:srgbClr val="CEE7E3"/>
            </a:solidFill>
            <a:ln w="9961">
              <a:solidFill>
                <a:srgbClr val="B7DBD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11" name="slidesai_R3Xr5XTZ::icon-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1863" y="2850356"/>
              <a:ext cx="342900" cy="342900"/>
            </a:xfrm>
            <a:prstGeom prst="rect">
              <a:avLst/>
            </a:prstGeom>
          </p:spPr>
        </p:pic>
        <p:sp>
          <p:nvSpPr>
            <p:cNvPr id="12" name="73a16810-a98c-4f8f-b6cd-fc24cd59ad27"/>
            <p:cNvSpPr/>
            <p:nvPr/>
          </p:nvSpPr>
          <p:spPr>
            <a:xfrm>
              <a:off x="3471863" y="3364706"/>
              <a:ext cx="2228850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30" b="1" dirty="0">
                  <a:solidFill>
                    <a:srgbClr val="005046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2. Rule Complexity</a:t>
              </a:r>
              <a:endParaRPr lang="en-US" sz="1130" dirty="0"/>
            </a:p>
          </p:txBody>
        </p:sp>
        <p:sp>
          <p:nvSpPr>
            <p:cNvPr id="13" name="5ad6bf28-e472-4d2c-b4b5-cda76d211024"/>
            <p:cNvSpPr/>
            <p:nvPr/>
          </p:nvSpPr>
          <p:spPr>
            <a:xfrm>
              <a:off x="3471863" y="3679031"/>
              <a:ext cx="2214563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900" dirty="0">
                  <a:solidFill>
                    <a:srgbClr val="005046">
                      <a:alpha val="80000"/>
                    </a:srgbClr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Implementing non-linear rules such as castling, en passant, and pawn promotion.</a:t>
              </a:r>
              <a:endParaRPr lang="en-US" sz="900" dirty="0"/>
            </a:p>
          </p:txBody>
        </p:sp>
      </p:grpSp>
      <p:grpSp>
        <p:nvGrpSpPr>
          <p:cNvPr id="21" name="group-yWWfe3MR0pquVWlbINykG"/>
          <p:cNvGrpSpPr/>
          <p:nvPr/>
        </p:nvGrpSpPr>
        <p:grpSpPr>
          <a:xfrm>
            <a:off x="6136481" y="2614613"/>
            <a:ext cx="2671763" cy="1985963"/>
            <a:chOff x="6136481" y="2614613"/>
            <a:chExt cx="2671763" cy="1985963"/>
          </a:xfrm>
        </p:grpSpPr>
        <p:sp>
          <p:nvSpPr>
            <p:cNvPr id="7" name="01af685d-7255-4412-a779-877f4a29abd3"/>
            <p:cNvSpPr/>
            <p:nvPr/>
          </p:nvSpPr>
          <p:spPr>
            <a:xfrm>
              <a:off x="6136481" y="2614613"/>
              <a:ext cx="2671763" cy="1985963"/>
            </a:xfrm>
            <a:prstGeom prst="roundRect">
              <a:avLst>
                <a:gd name="adj" fmla="val 5755"/>
              </a:avLst>
            </a:prstGeom>
            <a:solidFill>
              <a:srgbClr val="CEE7E3"/>
            </a:solidFill>
            <a:ln w="9961">
              <a:solidFill>
                <a:srgbClr val="B7DBD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14" name="slidesai_R3Xr5XTZ::icon-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2225" y="2850356"/>
              <a:ext cx="342900" cy="342900"/>
            </a:xfrm>
            <a:prstGeom prst="rect">
              <a:avLst/>
            </a:prstGeom>
          </p:spPr>
        </p:pic>
        <p:sp>
          <p:nvSpPr>
            <p:cNvPr id="15" name="b41903f7-a2b8-4135-9f49-b945bfbefa92"/>
            <p:cNvSpPr/>
            <p:nvPr/>
          </p:nvSpPr>
          <p:spPr>
            <a:xfrm>
              <a:off x="6372225" y="3364706"/>
              <a:ext cx="2228850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30" b="1" dirty="0">
                  <a:solidFill>
                    <a:srgbClr val="005046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3. Search Space</a:t>
              </a:r>
              <a:endParaRPr lang="en-US" sz="1130" dirty="0"/>
            </a:p>
          </p:txBody>
        </p:sp>
        <p:sp>
          <p:nvSpPr>
            <p:cNvPr id="16" name="fd98780c-5caf-4a7b-ad9e-bd5dc25005d0"/>
            <p:cNvSpPr/>
            <p:nvPr/>
          </p:nvSpPr>
          <p:spPr>
            <a:xfrm>
              <a:off x="6372225" y="3679031"/>
              <a:ext cx="2214563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900" dirty="0">
                  <a:solidFill>
                    <a:srgbClr val="005046">
                      <a:alpha val="80000"/>
                    </a:srgbClr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Navigating the "combinatorial explosion" where the number of possible move sequences exceeds capacity.</a:t>
              </a:r>
              <a:endParaRPr lang="en-US" sz="900" dirty="0"/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 tmFilter="0,0; 0.25,0.578; 0.5,0.875; 0.75,0.984; 1,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 tmFilter="0,0; 0.25,0.578; 0.5,0.875; 0.75,0.984; 1,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 tmFilter="0,0; 0.25,0.578; 0.5,0.875; 0.75,0.984; 1,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 tmFilter="0,0; 0.25,0.578; 0.5,0.875; 0.75,0.984; 1,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 tmFilter="0,0; 0.25,0.578; 0.5,0.875; 0.75,0.984; 1,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4108082-5c6a-4982-be53-e03e212fa62b"/>
          <p:cNvSpPr/>
          <p:nvPr/>
        </p:nvSpPr>
        <p:spPr>
          <a:xfrm>
            <a:off x="342900" y="342900"/>
            <a:ext cx="84939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Architecture and Board Representation</a:t>
            </a:r>
            <a:endParaRPr lang="en-US" sz="2700" dirty="0"/>
          </a:p>
        </p:txBody>
      </p:sp>
      <p:sp>
        <p:nvSpPr>
          <p:cNvPr id="3" name="983e04e3-1896-45a5-8b3c-ccf39c1fc1d3"/>
          <p:cNvSpPr/>
          <p:nvPr/>
        </p:nvSpPr>
        <p:spPr>
          <a:xfrm>
            <a:off x="342900" y="800100"/>
            <a:ext cx="84939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The engine is built on a modular architecture that separates the game state from the decision-making logic.</a:t>
            </a:r>
            <a:endParaRPr lang="en-US" sz="1010" dirty="0"/>
          </a:p>
        </p:txBody>
      </p:sp>
      <p:grpSp>
        <p:nvGrpSpPr>
          <p:cNvPr id="40" name="group-l-0gGWa85rZrM2-SEyIVp"/>
          <p:cNvGrpSpPr/>
          <p:nvPr/>
        </p:nvGrpSpPr>
        <p:grpSpPr>
          <a:xfrm>
            <a:off x="342900" y="1228725"/>
            <a:ext cx="4879181" cy="3579019"/>
            <a:chOff x="342900" y="1228725"/>
            <a:chExt cx="4879181" cy="3579019"/>
          </a:xfrm>
        </p:grpSpPr>
        <p:sp>
          <p:nvSpPr>
            <p:cNvPr id="4" name="5dcdc04f-c20f-4ca1-9452-32a8b6069b8f"/>
            <p:cNvSpPr/>
            <p:nvPr/>
          </p:nvSpPr>
          <p:spPr>
            <a:xfrm>
              <a:off x="342900" y="1228725"/>
              <a:ext cx="4879181" cy="3579019"/>
            </a:xfrm>
            <a:prstGeom prst="roundRect">
              <a:avLst>
                <a:gd name="adj" fmla="val 4790"/>
              </a:avLst>
            </a:prstGeom>
            <a:solidFill>
              <a:srgbClr val="E6F3F1"/>
            </a:solidFill>
            <a:ln w="9961">
              <a:solidFill>
                <a:srgbClr val="CEE6E3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5" name="ba10e9f3-7e52-49a6-ba87-6f6742784dfc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0044" y="1235869"/>
              <a:ext cx="4864894" cy="3479006"/>
            </a:xfrm>
            <a:prstGeom prst="rect">
              <a:avLst/>
            </a:prstGeom>
          </p:spPr>
        </p:pic>
        <p:grpSp>
          <p:nvGrpSpPr>
            <p:cNvPr id="32" name="group-b3ErsdzTvOnzzPAMV5uYO"/>
            <p:cNvGrpSpPr/>
            <p:nvPr/>
          </p:nvGrpSpPr>
          <p:grpSpPr>
            <a:xfrm>
              <a:off x="2093119" y="2628900"/>
              <a:ext cx="1371600" cy="771525"/>
              <a:chOff x="2093119" y="2628900"/>
              <a:chExt cx="1371600" cy="771525"/>
            </a:xfrm>
          </p:grpSpPr>
          <p:sp>
            <p:nvSpPr>
              <p:cNvPr id="19" name="dfc40e69-7307-48de-86ba-ef4a3ae95b81"/>
              <p:cNvSpPr/>
              <p:nvPr/>
            </p:nvSpPr>
            <p:spPr>
              <a:xfrm>
                <a:off x="2093119" y="2628900"/>
                <a:ext cx="1371600" cy="771525"/>
              </a:xfrm>
              <a:prstGeom prst="roundRect">
                <a:avLst>
                  <a:gd name="adj" fmla="val 14815"/>
                </a:avLst>
              </a:prstGeom>
              <a:solidFill>
                <a:srgbClr val="005046"/>
              </a:solidFill>
              <a:ln w="49804">
                <a:solidFill>
                  <a:srgbClr val="008069"/>
                </a:solidFill>
              </a:ln>
              <a:effectLst>
                <a:outerShdw blurRad="139700" dist="101600" dir="5400000" algn="bl" rotWithShape="0">
                  <a:srgbClr val="000000">
                    <a:alpha val="7000"/>
                  </a:srgbClr>
                </a:outerShdw>
              </a:effectLst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4" name="c177a84e-7b45-441e-9af3-6d8eece31326"/>
              <p:cNvSpPr/>
              <p:nvPr/>
            </p:nvSpPr>
            <p:spPr>
              <a:xfrm>
                <a:off x="2379697" y="2836069"/>
                <a:ext cx="827019" cy="1857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30" b="1" dirty="0">
                    <a:solidFill>
                      <a:srgbClr val="FFFFFF"/>
                    </a:solidFill>
                    <a:latin typeface="Merriweather" pitchFamily="34" charset="0"/>
                    <a:ea typeface="Merriweather" pitchFamily="34" charset="-122"/>
                    <a:cs typeface="Merriweather" pitchFamily="34" charset="-120"/>
                  </a:rPr>
                  <a:t>GameState</a:t>
                </a:r>
                <a:endParaRPr lang="en-US" sz="1130" dirty="0"/>
              </a:p>
            </p:txBody>
          </p:sp>
          <p:sp>
            <p:nvSpPr>
              <p:cNvPr id="25" name="65c72707-7869-4ea1-9869-da1ef1b710c8"/>
              <p:cNvSpPr/>
              <p:nvPr/>
            </p:nvSpPr>
            <p:spPr>
              <a:xfrm>
                <a:off x="2530115" y="3071813"/>
                <a:ext cx="533327" cy="1071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80" dirty="0">
                    <a:solidFill>
                      <a:srgbClr val="FFFFFF">
                        <a:alpha val="80000"/>
                      </a:srgbClr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(8x8 Array)</a:t>
                </a:r>
                <a:endParaRPr lang="en-US" sz="680" dirty="0"/>
              </a:p>
            </p:txBody>
          </p:sp>
        </p:grpSp>
        <p:grpSp>
          <p:nvGrpSpPr>
            <p:cNvPr id="33" name="group-gqAOtgdSal_buQclchNoB"/>
            <p:cNvGrpSpPr/>
            <p:nvPr/>
          </p:nvGrpSpPr>
          <p:grpSpPr>
            <a:xfrm>
              <a:off x="1200150" y="1885950"/>
              <a:ext cx="1143000" cy="585788"/>
              <a:chOff x="1200150" y="1885950"/>
              <a:chExt cx="1143000" cy="585788"/>
            </a:xfrm>
          </p:grpSpPr>
          <p:sp>
            <p:nvSpPr>
              <p:cNvPr id="20" name="c8035313-3cad-483b-b403-e67d63b78cef"/>
              <p:cNvSpPr/>
              <p:nvPr/>
            </p:nvSpPr>
            <p:spPr>
              <a:xfrm>
                <a:off x="1200150" y="1885950"/>
                <a:ext cx="1143000" cy="585788"/>
              </a:xfrm>
              <a:prstGeom prst="roundRect">
                <a:avLst>
                  <a:gd name="adj" fmla="val 14634"/>
                </a:avLst>
              </a:prstGeom>
              <a:solidFill>
                <a:srgbClr val="FFFFFF"/>
              </a:solidFill>
              <a:ln w="9961">
                <a:solidFill>
                  <a:srgbClr val="B8DCD6"/>
                </a:solidFill>
              </a:ln>
              <a:effectLst>
                <a:outerShdw blurRad="38100" dist="25400" dir="5400000" algn="bl" rotWithShape="0">
                  <a:srgbClr val="000000">
                    <a:alpha val="7000"/>
                  </a:srgbClr>
                </a:outerShdw>
              </a:effectLst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6" name="baf63727-43dd-4dbe-8c72-c45d2a21da7a"/>
              <p:cNvSpPr/>
              <p:nvPr/>
            </p:nvSpPr>
            <p:spPr>
              <a:xfrm>
                <a:off x="1293825" y="2021681"/>
                <a:ext cx="977082" cy="314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Move Generator</a:t>
                </a:r>
                <a:endParaRPr lang="en-US" sz="900" dirty="0"/>
              </a:p>
            </p:txBody>
          </p:sp>
        </p:grpSp>
        <p:grpSp>
          <p:nvGrpSpPr>
            <p:cNvPr id="34" name="group-tghSasrAgIlLsxiBzSzCR"/>
            <p:cNvGrpSpPr/>
            <p:nvPr/>
          </p:nvGrpSpPr>
          <p:grpSpPr>
            <a:xfrm>
              <a:off x="3221831" y="1885950"/>
              <a:ext cx="1143000" cy="414338"/>
              <a:chOff x="3221831" y="1885950"/>
              <a:chExt cx="1143000" cy="414338"/>
            </a:xfrm>
          </p:grpSpPr>
          <p:sp>
            <p:nvSpPr>
              <p:cNvPr id="21" name="40007ebe-83ed-4091-b699-132ee789d609"/>
              <p:cNvSpPr/>
              <p:nvPr/>
            </p:nvSpPr>
            <p:spPr>
              <a:xfrm>
                <a:off x="3221831" y="1885950"/>
                <a:ext cx="1143000" cy="414338"/>
              </a:xfrm>
              <a:prstGeom prst="roundRect">
                <a:avLst>
                  <a:gd name="adj" fmla="val 20690"/>
                </a:avLst>
              </a:prstGeom>
              <a:solidFill>
                <a:srgbClr val="FFFFFF"/>
              </a:solidFill>
              <a:ln w="9961">
                <a:solidFill>
                  <a:srgbClr val="B8DCD6"/>
                </a:solidFill>
              </a:ln>
              <a:effectLst>
                <a:outerShdw blurRad="38100" dist="25400" dir="5400000" algn="bl" rotWithShape="0">
                  <a:srgbClr val="000000">
                    <a:alpha val="7000"/>
                  </a:srgbClr>
                </a:outerShdw>
              </a:effectLst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7" name="8391933c-85ce-41e6-88eb-6eca4d188e82"/>
              <p:cNvSpPr/>
              <p:nvPr/>
            </p:nvSpPr>
            <p:spPr>
              <a:xfrm>
                <a:off x="3408756" y="2021681"/>
                <a:ext cx="804869" cy="1428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AI (Minimax)</a:t>
                </a:r>
                <a:endParaRPr lang="en-US" sz="900" dirty="0"/>
              </a:p>
            </p:txBody>
          </p:sp>
        </p:grpSp>
        <p:grpSp>
          <p:nvGrpSpPr>
            <p:cNvPr id="35" name="group-XviweeN-KW798qLbUs3n5"/>
            <p:cNvGrpSpPr/>
            <p:nvPr/>
          </p:nvGrpSpPr>
          <p:grpSpPr>
            <a:xfrm>
              <a:off x="1200150" y="3557588"/>
              <a:ext cx="1158023" cy="585788"/>
              <a:chOff x="1200150" y="3557588"/>
              <a:chExt cx="1158023" cy="585788"/>
            </a:xfrm>
          </p:grpSpPr>
          <p:sp>
            <p:nvSpPr>
              <p:cNvPr id="22" name="7ef360e2-7c99-4956-8898-6a87f6b3c1d3"/>
              <p:cNvSpPr/>
              <p:nvPr/>
            </p:nvSpPr>
            <p:spPr>
              <a:xfrm>
                <a:off x="1200150" y="3557588"/>
                <a:ext cx="1143000" cy="585788"/>
              </a:xfrm>
              <a:prstGeom prst="roundRect">
                <a:avLst>
                  <a:gd name="adj" fmla="val 14634"/>
                </a:avLst>
              </a:prstGeom>
              <a:solidFill>
                <a:srgbClr val="FFFFFF"/>
              </a:solidFill>
              <a:ln w="9961">
                <a:solidFill>
                  <a:srgbClr val="B8DCD6"/>
                </a:solidFill>
              </a:ln>
              <a:effectLst>
                <a:outerShdw blurRad="38100" dist="25400" dir="5400000" algn="bl" rotWithShape="0">
                  <a:srgbClr val="000000">
                    <a:alpha val="7000"/>
                  </a:srgbClr>
                </a:outerShdw>
              </a:effectLst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8" name="915979a7-0062-497e-a765-bf9fcb0e3577"/>
              <p:cNvSpPr/>
              <p:nvPr/>
            </p:nvSpPr>
            <p:spPr>
              <a:xfrm>
                <a:off x="1220845" y="3693319"/>
                <a:ext cx="1137328" cy="314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Python/Pygame UI</a:t>
                </a:r>
                <a:endParaRPr lang="en-US" sz="900" dirty="0"/>
              </a:p>
            </p:txBody>
          </p:sp>
        </p:grpSp>
        <p:grpSp>
          <p:nvGrpSpPr>
            <p:cNvPr id="36" name="group-1AvlbFI73j1KimBYE1IBj"/>
            <p:cNvGrpSpPr/>
            <p:nvPr/>
          </p:nvGrpSpPr>
          <p:grpSpPr>
            <a:xfrm>
              <a:off x="3221831" y="3729038"/>
              <a:ext cx="1143000" cy="414338"/>
              <a:chOff x="3221831" y="3729038"/>
              <a:chExt cx="1143000" cy="414338"/>
            </a:xfrm>
          </p:grpSpPr>
          <p:sp>
            <p:nvSpPr>
              <p:cNvPr id="23" name="520cd8be-15af-422b-82bf-2088664405c4"/>
              <p:cNvSpPr/>
              <p:nvPr/>
            </p:nvSpPr>
            <p:spPr>
              <a:xfrm>
                <a:off x="3221831" y="3729038"/>
                <a:ext cx="1143000" cy="414338"/>
              </a:xfrm>
              <a:prstGeom prst="roundRect">
                <a:avLst>
                  <a:gd name="adj" fmla="val 20690"/>
                </a:avLst>
              </a:prstGeom>
              <a:solidFill>
                <a:srgbClr val="FFFFFF"/>
              </a:solidFill>
              <a:ln w="9961">
                <a:solidFill>
                  <a:srgbClr val="B8DCD6"/>
                </a:solidFill>
              </a:ln>
              <a:effectLst>
                <a:outerShdw blurRad="38100" dist="25400" dir="5400000" algn="bl" rotWithShape="0">
                  <a:srgbClr val="000000">
                    <a:alpha val="7000"/>
                  </a:srgbClr>
                </a:outerShdw>
              </a:effectLst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9" name="990e8c0b-0198-47da-8eca-526b59c12fbf"/>
              <p:cNvSpPr/>
              <p:nvPr/>
            </p:nvSpPr>
            <p:spPr>
              <a:xfrm>
                <a:off x="3372952" y="3864769"/>
                <a:ext cx="869334" cy="1428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Rule Validator</a:t>
                </a:r>
                <a:endParaRPr lang="en-US" sz="900" dirty="0"/>
              </a:p>
            </p:txBody>
          </p:sp>
        </p:grpSp>
      </p:grpSp>
      <p:sp>
        <p:nvSpPr>
          <p:cNvPr id="6" name="78387e04-24c8-4e5d-ac6c-6082a01f6177"/>
          <p:cNvSpPr/>
          <p:nvPr/>
        </p:nvSpPr>
        <p:spPr>
          <a:xfrm>
            <a:off x="5557838" y="2057400"/>
            <a:ext cx="32718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0080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Structures</a:t>
            </a:r>
            <a:endParaRPr lang="en-US" sz="1690" dirty="0"/>
          </a:p>
        </p:txBody>
      </p:sp>
      <p:grpSp>
        <p:nvGrpSpPr>
          <p:cNvPr id="37" name="group-9xkLG6NTU-VjY9Sn30eKZ"/>
          <p:cNvGrpSpPr/>
          <p:nvPr/>
        </p:nvGrpSpPr>
        <p:grpSpPr>
          <a:xfrm>
            <a:off x="5557838" y="2543175"/>
            <a:ext cx="285750" cy="285750"/>
            <a:chOff x="5557838" y="2543175"/>
            <a:chExt cx="285750" cy="285750"/>
          </a:xfrm>
        </p:grpSpPr>
        <p:sp>
          <p:nvSpPr>
            <p:cNvPr id="7" name="slidesai_FE-Vv1lI::icon-4"/>
            <p:cNvSpPr/>
            <p:nvPr/>
          </p:nvSpPr>
          <p:spPr>
            <a:xfrm>
              <a:off x="5557838" y="254317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CEE6E3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10" name="659835af-6077-4a84-9a0a-e5de778edf8a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4988" y="2600325"/>
              <a:ext cx="171450" cy="171450"/>
            </a:xfrm>
            <a:prstGeom prst="rect">
              <a:avLst/>
            </a:prstGeom>
          </p:spPr>
        </p:pic>
      </p:grpSp>
      <p:grpSp>
        <p:nvGrpSpPr>
          <p:cNvPr id="38" name="group-jqNFAxG7YA7BkmINjneSW"/>
          <p:cNvGrpSpPr/>
          <p:nvPr/>
        </p:nvGrpSpPr>
        <p:grpSpPr>
          <a:xfrm>
            <a:off x="5557838" y="3028950"/>
            <a:ext cx="285750" cy="285750"/>
            <a:chOff x="5557838" y="3028950"/>
            <a:chExt cx="285750" cy="285750"/>
          </a:xfrm>
        </p:grpSpPr>
        <p:sp>
          <p:nvSpPr>
            <p:cNvPr id="8" name="slidesai_FE-Vv1lI::icon-5"/>
            <p:cNvSpPr/>
            <p:nvPr/>
          </p:nvSpPr>
          <p:spPr>
            <a:xfrm>
              <a:off x="5557838" y="302895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CEE6E3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13" name="2ddfc286-0ffb-40a3-a2d5-9dd6bf296b5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4988" y="3086100"/>
              <a:ext cx="171450" cy="171450"/>
            </a:xfrm>
            <a:prstGeom prst="rect">
              <a:avLst/>
            </a:prstGeom>
          </p:spPr>
        </p:pic>
      </p:grpSp>
      <p:grpSp>
        <p:nvGrpSpPr>
          <p:cNvPr id="39" name="group-DIIv-QAvPcjFopGLRynH0"/>
          <p:cNvGrpSpPr/>
          <p:nvPr/>
        </p:nvGrpSpPr>
        <p:grpSpPr>
          <a:xfrm>
            <a:off x="5557838" y="3514725"/>
            <a:ext cx="285750" cy="285750"/>
            <a:chOff x="5557838" y="3514725"/>
            <a:chExt cx="285750" cy="285750"/>
          </a:xfrm>
        </p:grpSpPr>
        <p:sp>
          <p:nvSpPr>
            <p:cNvPr id="9" name="slidesai_FE-Vv1lI::icon-6"/>
            <p:cNvSpPr/>
            <p:nvPr/>
          </p:nvSpPr>
          <p:spPr>
            <a:xfrm>
              <a:off x="5557838" y="35147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CEE6E3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16" name="6c720310-e390-41fa-a374-75848471864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4988" y="3571875"/>
              <a:ext cx="171450" cy="171450"/>
            </a:xfrm>
            <a:prstGeom prst="rect">
              <a:avLst/>
            </a:prstGeom>
          </p:spPr>
        </p:pic>
      </p:grpSp>
      <p:sp>
        <p:nvSpPr>
          <p:cNvPr id="11" name="e808bd70-3b38-4607-9b0f-90dcbfe4e3d6"/>
          <p:cNvSpPr/>
          <p:nvPr/>
        </p:nvSpPr>
        <p:spPr>
          <a:xfrm>
            <a:off x="5957888" y="2543175"/>
            <a:ext cx="28360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04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Board Representation</a:t>
            </a:r>
            <a:endParaRPr lang="en-US" sz="900" dirty="0"/>
          </a:p>
        </p:txBody>
      </p:sp>
      <p:sp>
        <p:nvSpPr>
          <p:cNvPr id="12" name="0d51f6ec-d191-4904-a3a7-17fb748f41e4"/>
          <p:cNvSpPr/>
          <p:nvPr/>
        </p:nvSpPr>
        <p:spPr>
          <a:xfrm>
            <a:off x="5957888" y="2714625"/>
            <a:ext cx="28769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9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2D 8×8 list where each element stores a piece object or null.</a:t>
            </a:r>
            <a:endParaRPr lang="en-US" sz="790" dirty="0"/>
          </a:p>
        </p:txBody>
      </p:sp>
      <p:sp>
        <p:nvSpPr>
          <p:cNvPr id="14" name="d2611953-88a0-41e2-9dab-671ff266d32b"/>
          <p:cNvSpPr/>
          <p:nvPr/>
        </p:nvSpPr>
        <p:spPr>
          <a:xfrm>
            <a:off x="5957888" y="3028950"/>
            <a:ext cx="27003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04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Piece Encoding</a:t>
            </a:r>
            <a:endParaRPr lang="en-US" sz="900" dirty="0"/>
          </a:p>
        </p:txBody>
      </p:sp>
      <p:sp>
        <p:nvSpPr>
          <p:cNvPr id="15" name="a91274ee-96e7-4180-a745-01e05e9b7805"/>
          <p:cNvSpPr/>
          <p:nvPr/>
        </p:nvSpPr>
        <p:spPr>
          <a:xfrm>
            <a:off x="5957888" y="3200400"/>
            <a:ext cx="27003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9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Strings (e.g., 'wP', 'bK') for rapid lookup and rendering.</a:t>
            </a:r>
            <a:endParaRPr lang="en-US" sz="790" dirty="0"/>
          </a:p>
        </p:txBody>
      </p:sp>
      <p:sp>
        <p:nvSpPr>
          <p:cNvPr id="17" name="86e95712-9fcb-4cb4-8768-ab7f702b3006"/>
          <p:cNvSpPr/>
          <p:nvPr/>
        </p:nvSpPr>
        <p:spPr>
          <a:xfrm>
            <a:off x="5957888" y="3514725"/>
            <a:ext cx="28717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04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Move Log</a:t>
            </a:r>
            <a:endParaRPr lang="en-US" sz="900" dirty="0"/>
          </a:p>
        </p:txBody>
      </p:sp>
      <p:sp>
        <p:nvSpPr>
          <p:cNvPr id="18" name="654655b9-f9b8-4c9f-9133-f37c09dee825"/>
          <p:cNvSpPr/>
          <p:nvPr/>
        </p:nvSpPr>
        <p:spPr>
          <a:xfrm>
            <a:off x="5957888" y="368617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26"/>
              </a:lnSpc>
              <a:buNone/>
            </a:pPr>
            <a:r>
              <a:rPr lang="en-US" sz="79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Stack-based history that enables </a:t>
            </a:r>
            <a:r>
              <a:rPr lang="en-US" sz="790" i="1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undo</a:t>
            </a:r>
            <a:r>
              <a:rPr lang="en-US" sz="79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 functionality for AI search.</a:t>
            </a:r>
            <a:endParaRPr lang="en-US" sz="79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tmFilter="0,0; 0.25,0.578; 0.5,0.875; 0.75,0.984; 1,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 tmFilter="0,0; 0.25,0.578; 0.5,0.875; 0.75,0.984; 1,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 tmFilter="0,0; 0.25,0.578; 0.5,0.875; 0.75,0.984; 1,1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 tmFilter="0,0; 0.25,0.578; 0.5,0.875; 0.75,0.984; 1,1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 tmFilter="0,0; 0.25,0.578; 0.5,0.875; 0.75,0.984; 1,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 tmFilter="0,0; 0.25,0.578; 0.5,0.875; 0.75,0.984; 1,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 tmFilter="0,0; 0.25,0.578; 0.5,0.875; 0.75,0.984; 1,1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 tmFilter="0,0; 0.25,0.578; 0.5,0.875; 0.75,0.984; 1,1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0" grpId="0"/>
      <p:bldP spid="6" grpId="0" animBg="1"/>
      <p:bldP spid="37" grpId="0"/>
      <p:bldP spid="38" grpId="0"/>
      <p:bldP spid="39" grpId="0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7b83117-40a4-441a-885a-92731a88b884"/>
          <p:cNvSpPr/>
          <p:nvPr/>
        </p:nvSpPr>
        <p:spPr>
          <a:xfrm>
            <a:off x="342900" y="342900"/>
            <a:ext cx="84939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Legal Move Generation and Piece Validation</a:t>
            </a:r>
            <a:endParaRPr lang="en-US" sz="2700" dirty="0"/>
          </a:p>
        </p:txBody>
      </p:sp>
      <p:sp>
        <p:nvSpPr>
          <p:cNvPr id="3" name="fdb60968-26ad-4a70-a029-9282655618b5"/>
          <p:cNvSpPr/>
          <p:nvPr/>
        </p:nvSpPr>
        <p:spPr>
          <a:xfrm>
            <a:off x="350044" y="921544"/>
            <a:ext cx="8451056" cy="2050256"/>
          </a:xfrm>
          <a:prstGeom prst="roundRect">
            <a:avLst>
              <a:gd name="adj" fmla="val 391"/>
            </a:avLst>
          </a:prstGeom>
          <a:solidFill>
            <a:srgbClr val="FFFFFF"/>
          </a:solidFill>
          <a:ln/>
        </p:spPr>
      </p:sp>
      <p:graphicFrame>
        <p:nvGraphicFramePr>
          <p:cNvPr id="5" name="fdb60968-26ad-4a70-a029-9282655618b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044" y="921544"/>
          <a:ext cx="8451056" cy="2050255"/>
        </p:xfrm>
        <a:graphic>
          <a:graphicData uri="http://schemas.openxmlformats.org/drawingml/2006/table">
            <a:tbl>
              <a:tblPr/>
              <a:tblGrid>
                <a:gridCol w="1257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0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Piece</a:t>
                      </a:r>
                      <a:endParaRPr lang="en-US" sz="101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588" cap="flat" cmpd="sng" algn="ctr">
                      <a:solidFill>
                        <a:srgbClr val="008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Movement Logic</a:t>
                      </a:r>
                      <a:endParaRPr lang="en-US" sz="101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588" cap="flat" cmpd="sng" algn="ctr">
                      <a:solidFill>
                        <a:srgbClr val="008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Special Constraints</a:t>
                      </a:r>
                      <a:endParaRPr lang="en-US" sz="101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588" cap="flat" cmpd="sng" algn="ctr">
                      <a:solidFill>
                        <a:srgbClr val="008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Pawns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008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Forward 1 (or 2 on start), Diagonal capture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008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En Passant, Promotion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008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Knights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DA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Fixed "L" shapes (2x1)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DA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Can jump over other pieces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DA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Sliding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DA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Ray-casting (Rook, Bishop, Queen)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DA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Blocked by friendly/enemy pieces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DA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King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 square in any direction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504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Castling (requires safety check)</a:t>
                      </a:r>
                      <a:endParaRPr lang="en-US" sz="9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588" cap="flat" cmpd="sng" algn="ctr">
                      <a:solidFill>
                        <a:srgbClr val="E6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beea2061-743f-469a-9b31-51fbeb0059fd"/>
          <p:cNvSpPr/>
          <p:nvPr/>
        </p:nvSpPr>
        <p:spPr>
          <a:xfrm>
            <a:off x="342900" y="3257550"/>
            <a:ext cx="84939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0080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Validation Pipeline</a:t>
            </a:r>
            <a:endParaRPr lang="en-US" sz="1690" dirty="0"/>
          </a:p>
        </p:txBody>
      </p:sp>
      <p:grpSp>
        <p:nvGrpSpPr>
          <p:cNvPr id="23" name="group-D3QsnJwa2p0kfnxh6dZz_"/>
          <p:cNvGrpSpPr/>
          <p:nvPr/>
        </p:nvGrpSpPr>
        <p:grpSpPr>
          <a:xfrm>
            <a:off x="342900" y="3686175"/>
            <a:ext cx="2707481" cy="1000125"/>
            <a:chOff x="342900" y="3686175"/>
            <a:chExt cx="2707481" cy="1000125"/>
          </a:xfrm>
        </p:grpSpPr>
        <p:sp>
          <p:nvSpPr>
            <p:cNvPr id="6" name="a9e81a41-67a3-4252-9b7d-34f5fb8af664"/>
            <p:cNvSpPr/>
            <p:nvPr/>
          </p:nvSpPr>
          <p:spPr>
            <a:xfrm>
              <a:off x="342900" y="3686175"/>
              <a:ext cx="2707481" cy="10001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" name="8f29e999-5c89-4ed4-9e8f-d7d34421262a"/>
            <p:cNvSpPr/>
            <p:nvPr/>
          </p:nvSpPr>
          <p:spPr>
            <a:xfrm>
              <a:off x="542925" y="3857625"/>
              <a:ext cx="2364581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008069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01</a:t>
              </a:r>
              <a:endParaRPr lang="en-US" sz="1350" dirty="0"/>
            </a:p>
          </p:txBody>
        </p:sp>
        <p:sp>
          <p:nvSpPr>
            <p:cNvPr id="13" name="b7959e8a-a7e9-420f-8f59-f065d9a5906b"/>
            <p:cNvSpPr/>
            <p:nvPr/>
          </p:nvSpPr>
          <p:spPr>
            <a:xfrm>
              <a:off x="542925" y="4143375"/>
              <a:ext cx="2364581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5046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Pseudo-Legal Generation</a:t>
              </a:r>
              <a:endParaRPr lang="en-US" sz="900" dirty="0"/>
            </a:p>
          </p:txBody>
        </p:sp>
        <p:sp>
          <p:nvSpPr>
            <p:cNvPr id="14" name="63aeb0b9-d523-4e9c-8537-19e65e4a379f"/>
            <p:cNvSpPr/>
            <p:nvPr/>
          </p:nvSpPr>
          <p:spPr>
            <a:xfrm>
              <a:off x="542925" y="4371975"/>
              <a:ext cx="2366465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9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Calculate all squares a piece can physically reach.</a:t>
              </a:r>
              <a:endParaRPr lang="en-US" sz="790" dirty="0"/>
            </a:p>
          </p:txBody>
        </p:sp>
      </p:grpSp>
      <p:pic>
        <p:nvPicPr>
          <p:cNvPr id="7" name="a9e81a41-67a3-4252-9b7d-34f5fb8af664::border-composite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3686175"/>
            <a:ext cx="2707481" cy="1000125"/>
          </a:xfrm>
          <a:prstGeom prst="rect">
            <a:avLst/>
          </a:prstGeom>
        </p:spPr>
      </p:pic>
      <p:grpSp>
        <p:nvGrpSpPr>
          <p:cNvPr id="24" name="group-vdhsAtdcz0rrm9Tnb_90c"/>
          <p:cNvGrpSpPr/>
          <p:nvPr/>
        </p:nvGrpSpPr>
        <p:grpSpPr>
          <a:xfrm>
            <a:off x="3221831" y="3686175"/>
            <a:ext cx="2707481" cy="1143000"/>
            <a:chOff x="3221831" y="3686175"/>
            <a:chExt cx="2707481" cy="1143000"/>
          </a:xfrm>
        </p:grpSpPr>
        <p:sp>
          <p:nvSpPr>
            <p:cNvPr id="8" name="69176539-2b37-471f-9119-a33a5e33d960"/>
            <p:cNvSpPr/>
            <p:nvPr/>
          </p:nvSpPr>
          <p:spPr>
            <a:xfrm>
              <a:off x="3221831" y="3686175"/>
              <a:ext cx="2707481" cy="1143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084ebc96-8abe-4e72-9bc3-5d2923ea3d76"/>
            <p:cNvSpPr/>
            <p:nvPr/>
          </p:nvSpPr>
          <p:spPr>
            <a:xfrm>
              <a:off x="3421856" y="3857625"/>
              <a:ext cx="2364581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008069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02</a:t>
              </a:r>
              <a:endParaRPr lang="en-US" sz="1350" dirty="0"/>
            </a:p>
          </p:txBody>
        </p:sp>
        <p:sp>
          <p:nvSpPr>
            <p:cNvPr id="16" name="ec5262e3-fece-4855-912c-fd53b06526c6"/>
            <p:cNvSpPr/>
            <p:nvPr/>
          </p:nvSpPr>
          <p:spPr>
            <a:xfrm>
              <a:off x="3421856" y="4143375"/>
              <a:ext cx="2364581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5046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Safety Check</a:t>
              </a:r>
              <a:endParaRPr lang="en-US" sz="900" dirty="0"/>
            </a:p>
          </p:txBody>
        </p:sp>
        <p:sp>
          <p:nvSpPr>
            <p:cNvPr id="17" name="6159ac1c-853c-4fe1-9223-439872469525"/>
            <p:cNvSpPr/>
            <p:nvPr/>
          </p:nvSpPr>
          <p:spPr>
            <a:xfrm>
              <a:off x="3421856" y="4371975"/>
              <a:ext cx="2350294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126"/>
                </a:lnSpc>
                <a:buNone/>
              </a:pPr>
              <a:r>
                <a:rPr lang="en-US" sz="79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Temporarily apply the move and check if the King is under attack.</a:t>
              </a:r>
              <a:endParaRPr lang="en-US" sz="790" dirty="0"/>
            </a:p>
          </p:txBody>
        </p:sp>
      </p:grpSp>
      <p:pic>
        <p:nvPicPr>
          <p:cNvPr id="9" name="69176539-2b37-471f-9119-a33a5e33d960::border-composite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1831" y="3686175"/>
            <a:ext cx="2707481" cy="1143000"/>
          </a:xfrm>
          <a:prstGeom prst="rect">
            <a:avLst/>
          </a:prstGeom>
        </p:spPr>
      </p:pic>
      <p:grpSp>
        <p:nvGrpSpPr>
          <p:cNvPr id="25" name="group-oCOeVaV4ZvAvJz0Ar3a0K"/>
          <p:cNvGrpSpPr/>
          <p:nvPr/>
        </p:nvGrpSpPr>
        <p:grpSpPr>
          <a:xfrm>
            <a:off x="6093619" y="3686175"/>
            <a:ext cx="2707481" cy="1143000"/>
            <a:chOff x="6093619" y="3686175"/>
            <a:chExt cx="2707481" cy="1143000"/>
          </a:xfrm>
        </p:grpSpPr>
        <p:sp>
          <p:nvSpPr>
            <p:cNvPr id="10" name="83f28a24-ce3a-44d5-bf73-ce8cf0fc22a2"/>
            <p:cNvSpPr/>
            <p:nvPr/>
          </p:nvSpPr>
          <p:spPr>
            <a:xfrm>
              <a:off x="6093619" y="3686175"/>
              <a:ext cx="2707481" cy="1143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/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8" name="a0215b7a-0dbe-4c65-8cb8-890f118437d8"/>
            <p:cNvSpPr/>
            <p:nvPr/>
          </p:nvSpPr>
          <p:spPr>
            <a:xfrm>
              <a:off x="6293644" y="3857625"/>
              <a:ext cx="2364581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008069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03</a:t>
              </a:r>
              <a:endParaRPr lang="en-US" sz="1350" dirty="0"/>
            </a:p>
          </p:txBody>
        </p:sp>
        <p:sp>
          <p:nvSpPr>
            <p:cNvPr id="19" name="8db50a65-3860-4f06-a796-a3619dd9b6b7"/>
            <p:cNvSpPr/>
            <p:nvPr/>
          </p:nvSpPr>
          <p:spPr>
            <a:xfrm>
              <a:off x="6293644" y="4143375"/>
              <a:ext cx="2364581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5046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Final Filter</a:t>
              </a:r>
              <a:endParaRPr lang="en-US" sz="900" dirty="0"/>
            </a:p>
          </p:txBody>
        </p:sp>
        <p:sp>
          <p:nvSpPr>
            <p:cNvPr id="20" name="9e9b0292-983a-4121-a1ac-dca26307a86c"/>
            <p:cNvSpPr/>
            <p:nvPr/>
          </p:nvSpPr>
          <p:spPr>
            <a:xfrm>
              <a:off x="6293644" y="4371975"/>
              <a:ext cx="2350294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126"/>
                </a:lnSpc>
                <a:buNone/>
              </a:pPr>
              <a:r>
                <a:rPr lang="en-US" sz="79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If the move results in a self-check, it is discarded from the legal move list.</a:t>
              </a:r>
              <a:endParaRPr lang="en-US" sz="790" dirty="0"/>
            </a:p>
          </p:txBody>
        </p:sp>
      </p:grpSp>
      <p:pic>
        <p:nvPicPr>
          <p:cNvPr id="11" name="83f28a24-ce3a-44d5-bf73-ce8cf0fc22a2::border-composite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3619" y="3686175"/>
            <a:ext cx="2707481" cy="11430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 nodePh="1">
                                  <p:stCondLst>
                                    <p:cond delay="22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tmFilter="0,0; 0.25,0.578; 0.5,0.875; 0.75,0.984; 1,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 tmFilter="0,0; 0.25,0.578; 0.5,0.875; 0.75,0.984; 1,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 tmFilter="0,0; 0.25,0.578; 0.5,0.875; 0.75,0.984; 1,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 tmFilter="0,0; 0.25,0.578; 0.5,0.875; 0.75,0.984; 1,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 tmFilter="0,0; 0.25,0.578; 0.5,0.875; 0.75,0.984; 1,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 tmFilter="0,0; 0.25,0.578; 0.5,0.875; 0.75,0.984; 1,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 tmFilter="0,0; 0.25,0.578; 0.5,0.875; 0.75,0.984; 1,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 tmFilter="0,0; 0.25,0.578; 0.5,0.875; 0.75,0.984; 1,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 tmFilter="0,0; 0.25,0.578; 0.5,0.875; 0.75,0.984; 1,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 tmFilter="0,0; 0.25,0.578; 0.5,0.875; 0.75,0.984; 1,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23" grpId="0"/>
      <p:bldP spid="7" grpId="0"/>
      <p:bldP spid="24" grpId="0"/>
      <p:bldP spid="9" grpId="0"/>
      <p:bldP spid="25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47e4d46-ec2d-4dd6-8a87-83df19da7bc0"/>
          <p:cNvSpPr/>
          <p:nvPr/>
        </p:nvSpPr>
        <p:spPr>
          <a:xfrm>
            <a:off x="342900" y="342900"/>
            <a:ext cx="84939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Check, Checkmate, and Stalemate Logic</a:t>
            </a:r>
            <a:endParaRPr lang="en-US" sz="2700" dirty="0"/>
          </a:p>
        </p:txBody>
      </p:sp>
      <p:grpSp>
        <p:nvGrpSpPr>
          <p:cNvPr id="33" name="group-xhjomBa91zS7RN2U1IBs6"/>
          <p:cNvGrpSpPr/>
          <p:nvPr/>
        </p:nvGrpSpPr>
        <p:grpSpPr>
          <a:xfrm>
            <a:off x="3921919" y="914400"/>
            <a:ext cx="4879181" cy="3893344"/>
            <a:chOff x="3921919" y="914400"/>
            <a:chExt cx="4879181" cy="3893344"/>
          </a:xfrm>
        </p:grpSpPr>
        <p:sp>
          <p:nvSpPr>
            <p:cNvPr id="3" name="b3e35f10-94d6-4acd-85b4-ed3f1cb54f08"/>
            <p:cNvSpPr/>
            <p:nvPr/>
          </p:nvSpPr>
          <p:spPr>
            <a:xfrm>
              <a:off x="3921919" y="914400"/>
              <a:ext cx="4879181" cy="3893344"/>
            </a:xfrm>
            <a:prstGeom prst="roundRect">
              <a:avLst>
                <a:gd name="adj" fmla="val 4404"/>
              </a:avLst>
            </a:prstGeom>
            <a:solidFill>
              <a:srgbClr val="005046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" name="ac271f85-eedb-4f53-9fc3-11915197c6c7"/>
            <p:cNvSpPr/>
            <p:nvPr/>
          </p:nvSpPr>
          <p:spPr>
            <a:xfrm>
              <a:off x="5379244" y="1143000"/>
              <a:ext cx="2028008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90" kern="0" spc="80" dirty="0">
                  <a:solidFill>
                    <a:srgbClr val="FFFFFF">
                      <a:alpha val="60000"/>
                    </a:srgbClr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TERMINAL STATE DECISION TREE</a:t>
              </a:r>
              <a:endParaRPr lang="en-US" sz="790" dirty="0"/>
            </a:p>
          </p:txBody>
        </p:sp>
        <p:pic>
          <p:nvPicPr>
            <p:cNvPr id="9" name="632af552-dd3f-4713-97fe-a1f3c8c6636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150519" y="1514475"/>
              <a:ext cx="4421981" cy="2950369"/>
            </a:xfrm>
            <a:prstGeom prst="rect">
              <a:avLst/>
            </a:prstGeom>
          </p:spPr>
        </p:pic>
        <p:grpSp>
          <p:nvGrpSpPr>
            <p:cNvPr id="29" name="group-BWKpzaFZGOY6kdZqe1nPH"/>
            <p:cNvGrpSpPr/>
            <p:nvPr/>
          </p:nvGrpSpPr>
          <p:grpSpPr>
            <a:xfrm>
              <a:off x="5557838" y="1514475"/>
              <a:ext cx="1628775" cy="400050"/>
              <a:chOff x="5557838" y="1514475"/>
              <a:chExt cx="1628775" cy="400050"/>
            </a:xfrm>
          </p:grpSpPr>
          <p:sp>
            <p:nvSpPr>
              <p:cNvPr id="13" name="17f44c16-7786-488a-bda5-31a67425716a"/>
              <p:cNvSpPr/>
              <p:nvPr/>
            </p:nvSpPr>
            <p:spPr>
              <a:xfrm>
                <a:off x="5557838" y="1514475"/>
                <a:ext cx="1628775" cy="400050"/>
              </a:xfrm>
              <a:prstGeom prst="roundRect">
                <a:avLst>
                  <a:gd name="adj" fmla="val 14286"/>
                </a:avLst>
              </a:prstGeom>
              <a:solidFill>
                <a:srgbClr val="CCE6E1"/>
              </a:solidFill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4" name="8f74d6d3-85e0-4eb5-ae5b-ff125e497d06"/>
              <p:cNvSpPr/>
              <p:nvPr/>
            </p:nvSpPr>
            <p:spPr>
              <a:xfrm>
                <a:off x="5557838" y="1514475"/>
                <a:ext cx="1628775" cy="400050"/>
              </a:xfrm>
              <a:prstGeom prst="rect">
                <a:avLst/>
              </a:prstGeom>
              <a:noFill/>
              <a:ln/>
            </p:spPr>
            <p:txBody>
              <a:bodyPr wrap="none" lIns="114300" tIns="114300" rIns="114300" bIns="1143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Are there legal moves?</a:t>
                </a:r>
                <a:endParaRPr lang="en-US" sz="900" dirty="0"/>
              </a:p>
            </p:txBody>
          </p:sp>
        </p:grpSp>
        <p:grpSp>
          <p:nvGrpSpPr>
            <p:cNvPr id="27" name="group-CHV89mRDcpU_OThhFNRxf"/>
            <p:cNvGrpSpPr/>
            <p:nvPr/>
          </p:nvGrpSpPr>
          <p:grpSpPr>
            <a:xfrm>
              <a:off x="4493419" y="2600325"/>
              <a:ext cx="1157288" cy="571500"/>
              <a:chOff x="4493419" y="2600325"/>
              <a:chExt cx="1157288" cy="571500"/>
            </a:xfrm>
          </p:grpSpPr>
          <p:sp>
            <p:nvSpPr>
              <p:cNvPr id="15" name="fb239f1e-4d16-459b-94a5-5f3cda4eb356"/>
              <p:cNvSpPr/>
              <p:nvPr/>
            </p:nvSpPr>
            <p:spPr>
              <a:xfrm>
                <a:off x="4493419" y="2600325"/>
                <a:ext cx="1157288" cy="571500"/>
              </a:xfrm>
              <a:prstGeom prst="roundRect">
                <a:avLst>
                  <a:gd name="adj" fmla="val 10000"/>
                </a:avLst>
              </a:prstGeom>
              <a:solidFill>
                <a:srgbClr val="008069"/>
              </a:solidFill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7" name="e98a4eea-e43b-40dd-9b6f-6bca4fbd4537"/>
              <p:cNvSpPr/>
              <p:nvPr/>
            </p:nvSpPr>
            <p:spPr>
              <a:xfrm>
                <a:off x="4493419" y="2600325"/>
                <a:ext cx="1157288" cy="571500"/>
              </a:xfrm>
              <a:prstGeom prst="rect">
                <a:avLst/>
              </a:prstGeom>
              <a:noFill/>
              <a:ln/>
            </p:spPr>
            <p:txBody>
              <a:bodyPr wrap="square" lIns="114300" tIns="114300" rIns="114300" bIns="11430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Continue Game</a:t>
                </a:r>
                <a:endParaRPr lang="en-US" sz="900" dirty="0"/>
              </a:p>
            </p:txBody>
          </p:sp>
        </p:grpSp>
        <p:grpSp>
          <p:nvGrpSpPr>
            <p:cNvPr id="28" name="group-grTTIi1nmIMOaUNaUs2Ku"/>
            <p:cNvGrpSpPr/>
            <p:nvPr/>
          </p:nvGrpSpPr>
          <p:grpSpPr>
            <a:xfrm>
              <a:off x="7086600" y="2600325"/>
              <a:ext cx="1157288" cy="571500"/>
              <a:chOff x="7086600" y="2600325"/>
              <a:chExt cx="1157288" cy="571500"/>
            </a:xfrm>
          </p:grpSpPr>
          <p:sp>
            <p:nvSpPr>
              <p:cNvPr id="16" name="4f65f0ae-8b38-4096-8936-f25b268eefc2"/>
              <p:cNvSpPr/>
              <p:nvPr/>
            </p:nvSpPr>
            <p:spPr>
              <a:xfrm>
                <a:off x="7086600" y="2600325"/>
                <a:ext cx="1157288" cy="571500"/>
              </a:xfrm>
              <a:prstGeom prst="roundRect">
                <a:avLst>
                  <a:gd name="adj" fmla="val 10000"/>
                </a:avLst>
              </a:prstGeom>
              <a:solidFill>
                <a:srgbClr val="CCE6E1"/>
              </a:solidFill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8" name="3a006df6-d209-4c28-9ac3-d9dcf3a94c50"/>
              <p:cNvSpPr/>
              <p:nvPr/>
            </p:nvSpPr>
            <p:spPr>
              <a:xfrm>
                <a:off x="7086600" y="2600325"/>
                <a:ext cx="1157288" cy="571500"/>
              </a:xfrm>
              <a:prstGeom prst="rect">
                <a:avLst/>
              </a:prstGeom>
              <a:noFill/>
              <a:ln/>
            </p:spPr>
            <p:txBody>
              <a:bodyPr wrap="square" lIns="114300" tIns="114300" rIns="114300" bIns="11430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Is King in Check?</a:t>
                </a:r>
                <a:endParaRPr lang="en-US" sz="900" dirty="0"/>
              </a:p>
            </p:txBody>
          </p:sp>
        </p:grpSp>
        <p:grpSp>
          <p:nvGrpSpPr>
            <p:cNvPr id="25" name="group-X7OwnPpwV-pz9vbIhP7u3"/>
            <p:cNvGrpSpPr/>
            <p:nvPr/>
          </p:nvGrpSpPr>
          <p:grpSpPr>
            <a:xfrm>
              <a:off x="6538632" y="3629025"/>
              <a:ext cx="881624" cy="428625"/>
              <a:chOff x="6538632" y="3629025"/>
              <a:chExt cx="881624" cy="428625"/>
            </a:xfrm>
          </p:grpSpPr>
          <p:sp>
            <p:nvSpPr>
              <p:cNvPr id="19" name="b42fb199-4d3b-4fa9-9339-e982ab02eb5b"/>
              <p:cNvSpPr/>
              <p:nvPr/>
            </p:nvSpPr>
            <p:spPr>
              <a:xfrm>
                <a:off x="6543675" y="3629025"/>
                <a:ext cx="871538" cy="428625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4902">
                <a:solidFill>
                  <a:srgbClr val="008069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1" name="eff95590-48cf-4084-9b1b-9d9d8f1b688c"/>
              <p:cNvSpPr/>
              <p:nvPr/>
            </p:nvSpPr>
            <p:spPr>
              <a:xfrm>
                <a:off x="6538632" y="3629025"/>
                <a:ext cx="881624" cy="428625"/>
              </a:xfrm>
              <a:prstGeom prst="rect">
                <a:avLst/>
              </a:prstGeom>
              <a:noFill/>
              <a:ln/>
            </p:spPr>
            <p:txBody>
              <a:bodyPr wrap="none" lIns="114300" tIns="114300" rIns="114300" bIns="11430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Stalemate</a:t>
                </a:r>
                <a:endParaRPr lang="en-US" sz="900" dirty="0"/>
              </a:p>
            </p:txBody>
          </p:sp>
        </p:grpSp>
        <p:grpSp>
          <p:nvGrpSpPr>
            <p:cNvPr id="26" name="group-fbNv9nRL6CpV6KdTai0qX"/>
            <p:cNvGrpSpPr/>
            <p:nvPr/>
          </p:nvGrpSpPr>
          <p:grpSpPr>
            <a:xfrm>
              <a:off x="7723180" y="3629025"/>
              <a:ext cx="934258" cy="428625"/>
              <a:chOff x="7723180" y="3629025"/>
              <a:chExt cx="934258" cy="428625"/>
            </a:xfrm>
          </p:grpSpPr>
          <p:sp>
            <p:nvSpPr>
              <p:cNvPr id="20" name="255c9233-2c42-4db6-8304-6323adcfebf7"/>
              <p:cNvSpPr/>
              <p:nvPr/>
            </p:nvSpPr>
            <p:spPr>
              <a:xfrm>
                <a:off x="7729538" y="3629025"/>
                <a:ext cx="921544" cy="428625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4902">
                <a:solidFill>
                  <a:srgbClr val="008069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2" name="436aa407-9038-4061-9916-b6456d4aeee6"/>
              <p:cNvSpPr/>
              <p:nvPr/>
            </p:nvSpPr>
            <p:spPr>
              <a:xfrm>
                <a:off x="7723180" y="3629025"/>
                <a:ext cx="934258" cy="428625"/>
              </a:xfrm>
              <a:prstGeom prst="rect">
                <a:avLst/>
              </a:prstGeom>
              <a:noFill/>
              <a:ln/>
            </p:spPr>
            <p:txBody>
              <a:bodyPr wrap="none" lIns="114300" tIns="114300" rIns="114300" bIns="114300" rtlCol="0" anchor="t"/>
              <a:lstStyle/>
              <a:p>
                <a:pPr marL="0" indent="0" algn="ctr">
                  <a:lnSpc>
                    <a:spcPts val="1350"/>
                  </a:lnSpc>
                  <a:buNone/>
                </a:pPr>
                <a:r>
                  <a:rPr lang="en-US" sz="900" b="1" dirty="0">
                    <a:solidFill>
                      <a:srgbClr val="005046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Checkmate</a:t>
                </a:r>
                <a:endParaRPr lang="en-US" sz="900" dirty="0"/>
              </a:p>
            </p:txBody>
          </p:sp>
        </p:grpSp>
      </p:grpSp>
      <p:sp>
        <p:nvSpPr>
          <p:cNvPr id="4" name="5d49d559-dcf2-48d8-8d44-26d8e84a16cc"/>
          <p:cNvSpPr/>
          <p:nvPr/>
        </p:nvSpPr>
        <p:spPr>
          <a:xfrm>
            <a:off x="342900" y="1400175"/>
            <a:ext cx="32718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0080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End-Game Detection Flow</a:t>
            </a:r>
            <a:endParaRPr lang="en-US" sz="1690" dirty="0"/>
          </a:p>
        </p:txBody>
      </p:sp>
      <p:grpSp>
        <p:nvGrpSpPr>
          <p:cNvPr id="30" name="group-DTFB-w2nWtPZhj69Yqe3g"/>
          <p:cNvGrpSpPr/>
          <p:nvPr/>
        </p:nvGrpSpPr>
        <p:grpSpPr>
          <a:xfrm>
            <a:off x="342900" y="1885950"/>
            <a:ext cx="3243263" cy="700087"/>
            <a:chOff x="342900" y="1885950"/>
            <a:chExt cx="3243263" cy="700087"/>
          </a:xfrm>
        </p:grpSpPr>
        <p:sp>
          <p:nvSpPr>
            <p:cNvPr id="6" name="36b3efbb-15d6-4a89-aebd-af5c2239f591"/>
            <p:cNvSpPr/>
            <p:nvPr/>
          </p:nvSpPr>
          <p:spPr>
            <a:xfrm>
              <a:off x="342900" y="1885950"/>
              <a:ext cx="3243263" cy="700087"/>
            </a:xfrm>
            <a:prstGeom prst="roundRect">
              <a:avLst>
                <a:gd name="adj" fmla="val 16327"/>
              </a:avLst>
            </a:prstGeom>
            <a:solidFill>
              <a:srgbClr val="FFFFFF"/>
            </a:solidFill>
            <a:ln w="9961">
              <a:solidFill>
                <a:srgbClr val="CEE6E3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4bce1aa7-4f9e-4cc0-9872-55ffcbbdee54"/>
            <p:cNvSpPr/>
            <p:nvPr/>
          </p:nvSpPr>
          <p:spPr>
            <a:xfrm>
              <a:off x="521494" y="2064544"/>
              <a:ext cx="290036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008069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Check:</a:t>
              </a:r>
              <a:r>
                <a:rPr lang="en-US" sz="90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 Occurs when the King's current square is among the opponent's valid capture targets.</a:t>
              </a:r>
              <a:endParaRPr lang="en-US" sz="900" dirty="0"/>
            </a:p>
          </p:txBody>
        </p:sp>
      </p:grpSp>
      <p:grpSp>
        <p:nvGrpSpPr>
          <p:cNvPr id="31" name="group-4yUIFUaVU3BWs6aet-QCY"/>
          <p:cNvGrpSpPr/>
          <p:nvPr/>
        </p:nvGrpSpPr>
        <p:grpSpPr>
          <a:xfrm>
            <a:off x="342900" y="2750344"/>
            <a:ext cx="3243263" cy="700087"/>
            <a:chOff x="342900" y="2750344"/>
            <a:chExt cx="3243263" cy="700087"/>
          </a:xfrm>
        </p:grpSpPr>
        <p:sp>
          <p:nvSpPr>
            <p:cNvPr id="7" name="3347b54d-8377-44ba-b930-6049e77a56f7"/>
            <p:cNvSpPr/>
            <p:nvPr/>
          </p:nvSpPr>
          <p:spPr>
            <a:xfrm>
              <a:off x="342900" y="2750344"/>
              <a:ext cx="3243263" cy="700087"/>
            </a:xfrm>
            <a:prstGeom prst="roundRect">
              <a:avLst>
                <a:gd name="adj" fmla="val 16327"/>
              </a:avLst>
            </a:prstGeom>
            <a:solidFill>
              <a:srgbClr val="FFFFFF"/>
            </a:solidFill>
            <a:ln w="9961">
              <a:solidFill>
                <a:srgbClr val="CEE6E3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654e8ab8-32a3-4d86-993e-bcb36120d338"/>
            <p:cNvSpPr/>
            <p:nvPr/>
          </p:nvSpPr>
          <p:spPr>
            <a:xfrm>
              <a:off x="521494" y="2928938"/>
              <a:ext cx="290036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008069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Checkmate:</a:t>
              </a:r>
              <a:r>
                <a:rPr lang="en-US" sz="90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 Triggered when the King is in check and the "Legal Move List" is empty.</a:t>
              </a:r>
              <a:endParaRPr lang="en-US" sz="900" dirty="0"/>
            </a:p>
          </p:txBody>
        </p:sp>
      </p:grpSp>
      <p:grpSp>
        <p:nvGrpSpPr>
          <p:cNvPr id="32" name="group-dakyfMxAF2IRWsmu-h1_i"/>
          <p:cNvGrpSpPr/>
          <p:nvPr/>
        </p:nvGrpSpPr>
        <p:grpSpPr>
          <a:xfrm>
            <a:off x="342900" y="3621881"/>
            <a:ext cx="3243263" cy="700087"/>
            <a:chOff x="342900" y="3621881"/>
            <a:chExt cx="3243263" cy="700087"/>
          </a:xfrm>
        </p:grpSpPr>
        <p:sp>
          <p:nvSpPr>
            <p:cNvPr id="8" name="e8229e90-5a23-4763-a17b-a85b62e032d7"/>
            <p:cNvSpPr/>
            <p:nvPr/>
          </p:nvSpPr>
          <p:spPr>
            <a:xfrm>
              <a:off x="342900" y="3621881"/>
              <a:ext cx="3243263" cy="700087"/>
            </a:xfrm>
            <a:prstGeom prst="roundRect">
              <a:avLst>
                <a:gd name="adj" fmla="val 16327"/>
              </a:avLst>
            </a:prstGeom>
            <a:solidFill>
              <a:srgbClr val="FFFFFF"/>
            </a:solidFill>
            <a:ln w="9961">
              <a:solidFill>
                <a:srgbClr val="CEE6E3"/>
              </a:solidFill>
            </a:ln>
            <a:effectLst>
              <a:outerShdw blurRad="12700" dist="508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" name="9ebe75eb-6767-4b61-a343-4379d873a1fe"/>
            <p:cNvSpPr/>
            <p:nvPr/>
          </p:nvSpPr>
          <p:spPr>
            <a:xfrm>
              <a:off x="521494" y="3800475"/>
              <a:ext cx="290036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008069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Stalemate:</a:t>
              </a:r>
              <a:r>
                <a:rPr lang="en-US" sz="90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 Triggered when the King is </a:t>
              </a:r>
              <a:r>
                <a:rPr lang="en-US" sz="900" b="1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not</a:t>
              </a:r>
              <a:r>
                <a:rPr lang="en-US" sz="900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 in check, but the player has no legal moves.</a:t>
              </a:r>
              <a:endParaRPr lang="en-US" sz="900" dirty="0"/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tmFilter="0,0; 0.25,0.578; 0.5,0.875; 0.75,0.984; 1,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 tmFilter="0,0; 0.25,0.578; 0.5,0.875; 0.75,0.984; 1,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 tmFilter="0,0; 0.25,0.578; 0.5,0.875; 0.75,0.984; 1,1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 tmFilter="0,0; 0.25,0.578; 0.5,0.875; 0.75,0.984; 1,1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 tmFilter="0,0; 0.25,0.578; 0.5,0.875; 0.75,0.984; 1,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 tmFilter="0,0; 0.25,0.578; 0.5,0.875; 0.75,0.984; 1,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 tmFilter="0,0; 0.25,0.578; 0.5,0.875; 0.75,0.984; 1,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 tmFilter="0,0; 0.25,0.578; 0.5,0.875; 0.75,0.984; 1,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3" grpId="0"/>
      <p:bldP spid="4" grpId="0" animBg="1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d516019-1b16-42f1-9090-fe40b2be7a65"/>
          <p:cNvSpPr/>
          <p:nvPr/>
        </p:nvSpPr>
        <p:spPr>
          <a:xfrm>
            <a:off x="342900" y="342900"/>
            <a:ext cx="84939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Opponent with Minimax Search</a:t>
            </a:r>
            <a:endParaRPr lang="en-US" sz="2700" dirty="0"/>
          </a:p>
        </p:txBody>
      </p:sp>
      <p:grpSp>
        <p:nvGrpSpPr>
          <p:cNvPr id="29" name="group-MdjOKl6IuR4l4f2P3F8Q4"/>
          <p:cNvGrpSpPr/>
          <p:nvPr/>
        </p:nvGrpSpPr>
        <p:grpSpPr>
          <a:xfrm>
            <a:off x="342900" y="914400"/>
            <a:ext cx="4064794" cy="2500313"/>
            <a:chOff x="342900" y="914400"/>
            <a:chExt cx="4064794" cy="2500313"/>
          </a:xfrm>
        </p:grpSpPr>
        <p:sp>
          <p:nvSpPr>
            <p:cNvPr id="3" name="7f088521-22ca-43af-9409-d3f95d61e1a3"/>
            <p:cNvSpPr/>
            <p:nvPr/>
          </p:nvSpPr>
          <p:spPr>
            <a:xfrm>
              <a:off x="342900" y="914400"/>
              <a:ext cx="4064794" cy="2500313"/>
            </a:xfrm>
            <a:prstGeom prst="roundRect">
              <a:avLst>
                <a:gd name="adj" fmla="val 6857"/>
              </a:avLst>
            </a:prstGeom>
            <a:solidFill>
              <a:srgbClr val="005046"/>
            </a:solidFill>
            <a:ln/>
            <a:effectLst>
              <a:outerShdw blurRad="139700" dist="101600" dir="5400000" algn="bl" rotWithShape="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c5fce3af-b861-4194-9abb-440c617d68a8"/>
            <p:cNvSpPr/>
            <p:nvPr/>
          </p:nvSpPr>
          <p:spPr>
            <a:xfrm>
              <a:off x="571500" y="1143000"/>
              <a:ext cx="3636169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CCE6E1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The Evaluation Function</a:t>
              </a:r>
              <a:endParaRPr lang="en-US" sz="1350" dirty="0"/>
            </a:p>
          </p:txBody>
        </p:sp>
        <p:pic>
          <p:nvPicPr>
            <p:cNvPr id="7" name="cbc0e0ea-3f31-48a8-8a95-899c3572ba6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543050"/>
              <a:ext cx="3607594" cy="571500"/>
            </a:xfrm>
            <a:prstGeom prst="rect">
              <a:avLst/>
            </a:prstGeom>
          </p:spPr>
        </p:pic>
        <p:grpSp>
          <p:nvGrpSpPr>
            <p:cNvPr id="27" name="group-McEoZUcfEfSk2DxSD3yM5"/>
            <p:cNvGrpSpPr/>
            <p:nvPr/>
          </p:nvGrpSpPr>
          <p:grpSpPr>
            <a:xfrm>
              <a:off x="571500" y="2286000"/>
              <a:ext cx="1750219" cy="900112"/>
              <a:chOff x="571500" y="2286000"/>
              <a:chExt cx="1750219" cy="900112"/>
            </a:xfrm>
          </p:grpSpPr>
          <p:sp>
            <p:nvSpPr>
              <p:cNvPr id="10" name="4fdbafde-3608-4286-b6e7-7e2a1a93a9d8"/>
              <p:cNvSpPr/>
              <p:nvPr/>
            </p:nvSpPr>
            <p:spPr>
              <a:xfrm>
                <a:off x="571500" y="2286000"/>
                <a:ext cx="1750219" cy="900112"/>
              </a:xfrm>
              <a:prstGeom prst="roundRect">
                <a:avLst>
                  <a:gd name="adj" fmla="val 9524"/>
                </a:avLst>
              </a:prstGeom>
              <a:solidFill>
                <a:srgbClr val="0D594F"/>
              </a:solidFill>
              <a:ln w="9961">
                <a:solidFill>
                  <a:srgbClr val="1A6259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5" name="96496eb3-ccc3-443f-9400-514189845f70"/>
              <p:cNvSpPr/>
              <p:nvPr/>
            </p:nvSpPr>
            <p:spPr>
              <a:xfrm>
                <a:off x="692944" y="2407444"/>
                <a:ext cx="1535906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680" kern="0" spc="70" dirty="0">
                    <a:solidFill>
                      <a:srgbClr val="CCE6E1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MATERIAL WEIGHT</a:t>
                </a:r>
                <a:endParaRPr lang="en-US" sz="680" dirty="0"/>
              </a:p>
            </p:txBody>
          </p:sp>
          <p:sp>
            <p:nvSpPr>
              <p:cNvPr id="16" name="ebcbe9b2-40a4-4a76-bf4a-22e8d4df7fe0"/>
              <p:cNvSpPr/>
              <p:nvPr/>
            </p:nvSpPr>
            <p:spPr>
              <a:xfrm>
                <a:off x="692944" y="2578894"/>
                <a:ext cx="1521619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ts val="1126"/>
                  </a:lnSpc>
                  <a:buNone/>
                </a:pPr>
                <a:r>
                  <a:rPr lang="en-US" sz="790" dirty="0">
                    <a:solidFill>
                      <a:srgbClr val="FFFFFF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Pawn (1)
Knight/Bishop (3)
Rook (5), Queen (9)</a:t>
                </a:r>
                <a:endParaRPr lang="en-US" sz="790" dirty="0"/>
              </a:p>
            </p:txBody>
          </p:sp>
        </p:grpSp>
        <p:grpSp>
          <p:nvGrpSpPr>
            <p:cNvPr id="28" name="group-O7WkKU3XEGsltzcWMvvgo"/>
            <p:cNvGrpSpPr/>
            <p:nvPr/>
          </p:nvGrpSpPr>
          <p:grpSpPr>
            <a:xfrm>
              <a:off x="2428875" y="2286000"/>
              <a:ext cx="1750219" cy="900112"/>
              <a:chOff x="2428875" y="2286000"/>
              <a:chExt cx="1750219" cy="900112"/>
            </a:xfrm>
          </p:grpSpPr>
          <p:sp>
            <p:nvSpPr>
              <p:cNvPr id="11" name="10c1cc67-2c76-4785-852d-ca313473c03f"/>
              <p:cNvSpPr/>
              <p:nvPr/>
            </p:nvSpPr>
            <p:spPr>
              <a:xfrm>
                <a:off x="2428875" y="2286000"/>
                <a:ext cx="1750219" cy="900112"/>
              </a:xfrm>
              <a:prstGeom prst="roundRect">
                <a:avLst>
                  <a:gd name="adj" fmla="val 9524"/>
                </a:avLst>
              </a:prstGeom>
              <a:solidFill>
                <a:srgbClr val="0D594F"/>
              </a:solidFill>
              <a:ln w="9961">
                <a:solidFill>
                  <a:srgbClr val="1A6259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7" name="92c8969f-4867-4b7e-af01-ff41443ea5de"/>
              <p:cNvSpPr/>
              <p:nvPr/>
            </p:nvSpPr>
            <p:spPr>
              <a:xfrm>
                <a:off x="2550319" y="2407444"/>
                <a:ext cx="1535906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680" kern="0" spc="70" dirty="0">
                    <a:solidFill>
                      <a:srgbClr val="CCE6E1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POSITIONAL SCORING</a:t>
                </a:r>
                <a:endParaRPr lang="en-US" sz="680" dirty="0"/>
              </a:p>
            </p:txBody>
          </p:sp>
          <p:sp>
            <p:nvSpPr>
              <p:cNvPr id="18" name="1cc467e1-c109-4eef-8b92-789b5bc06ab2"/>
              <p:cNvSpPr/>
              <p:nvPr/>
            </p:nvSpPr>
            <p:spPr>
              <a:xfrm>
                <a:off x="2550319" y="2578894"/>
                <a:ext cx="1521619" cy="285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ts val="1126"/>
                  </a:lnSpc>
                  <a:buNone/>
                </a:pPr>
                <a:r>
                  <a:rPr lang="en-US" sz="790" dirty="0">
                    <a:solidFill>
                      <a:srgbClr val="FFFFFF"/>
                    </a:solidFill>
                    <a:latin typeface="Merriweather Sans" pitchFamily="34" charset="0"/>
                    <a:ea typeface="Merriweather Sans" pitchFamily="34" charset="-122"/>
                    <a:cs typeface="Merriweather Sans" pitchFamily="34" charset="-120"/>
                  </a:rPr>
                  <a:t>Heatmaps rewarding center control and key attacks.</a:t>
                </a:r>
                <a:endParaRPr lang="en-US" sz="790" dirty="0"/>
              </a:p>
            </p:txBody>
          </p:sp>
        </p:grpSp>
      </p:grpSp>
      <p:grpSp>
        <p:nvGrpSpPr>
          <p:cNvPr id="30" name="group-72zld2N25v-V_hlVvaJgb"/>
          <p:cNvGrpSpPr/>
          <p:nvPr/>
        </p:nvGrpSpPr>
        <p:grpSpPr>
          <a:xfrm>
            <a:off x="342900" y="3643313"/>
            <a:ext cx="4064794" cy="814388"/>
            <a:chOff x="342900" y="3643313"/>
            <a:chExt cx="4064794" cy="814388"/>
          </a:xfrm>
        </p:grpSpPr>
        <p:sp>
          <p:nvSpPr>
            <p:cNvPr id="4" name="a3e610c4-ad4f-4fd2-a007-918bf890624e"/>
            <p:cNvSpPr/>
            <p:nvPr/>
          </p:nvSpPr>
          <p:spPr>
            <a:xfrm>
              <a:off x="342900" y="3643313"/>
              <a:ext cx="4064794" cy="814388"/>
            </a:xfrm>
            <a:prstGeom prst="roundRect">
              <a:avLst>
                <a:gd name="adj" fmla="val 14035"/>
              </a:avLst>
            </a:prstGeom>
            <a:solidFill>
              <a:srgbClr val="CEE6E3"/>
            </a:solidFill>
            <a:ln w="9961">
              <a:solidFill>
                <a:srgbClr val="B7DCD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8" name="slidesai_McMg8tFg::icon-7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494" y="3821906"/>
              <a:ext cx="457200" cy="457200"/>
            </a:xfrm>
            <a:prstGeom prst="rect">
              <a:avLst/>
            </a:prstGeom>
          </p:spPr>
        </p:pic>
        <p:sp>
          <p:nvSpPr>
            <p:cNvPr id="9" name="7baded0f-ab9f-4a6e-9dc1-e6a2425cccf6"/>
            <p:cNvSpPr/>
            <p:nvPr/>
          </p:nvSpPr>
          <p:spPr>
            <a:xfrm>
              <a:off x="1150144" y="3907631"/>
              <a:ext cx="3093244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126"/>
                </a:lnSpc>
                <a:buNone/>
              </a:pPr>
              <a:r>
                <a:rPr lang="en-US" sz="790" i="1" dirty="0">
                  <a:solidFill>
                    <a:srgbClr val="005046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"The AI simulates future turns to find the move that minimizes the maximum possible loss."</a:t>
              </a:r>
              <a:endParaRPr lang="en-US" sz="790" dirty="0"/>
            </a:p>
          </p:txBody>
        </p:sp>
      </p:grpSp>
      <p:sp>
        <p:nvSpPr>
          <p:cNvPr id="5" name="f91ec834-117e-48c3-b592-d9d106662283"/>
          <p:cNvSpPr/>
          <p:nvPr/>
        </p:nvSpPr>
        <p:spPr>
          <a:xfrm>
            <a:off x="4743450" y="1800225"/>
            <a:ext cx="40933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90" b="1" dirty="0">
                <a:solidFill>
                  <a:srgbClr val="0080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Search Strategy</a:t>
            </a:r>
            <a:endParaRPr lang="en-US" sz="1690" dirty="0"/>
          </a:p>
        </p:txBody>
      </p:sp>
      <p:sp>
        <p:nvSpPr>
          <p:cNvPr id="12" name="4d5e774a-b76c-4c6e-adb0-7a8b60f84391"/>
          <p:cNvSpPr/>
          <p:nvPr/>
        </p:nvSpPr>
        <p:spPr>
          <a:xfrm>
            <a:off x="4743450" y="2286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0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3b16d1bf-e070-46b0-a9b1-190a8a3cffca"/>
          <p:cNvSpPr/>
          <p:nvPr/>
        </p:nvSpPr>
        <p:spPr>
          <a:xfrm>
            <a:off x="4743450" y="3000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0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a767213a-9fc1-4ea0-bbc8-7c4f13c2406b"/>
          <p:cNvSpPr/>
          <p:nvPr/>
        </p:nvSpPr>
        <p:spPr>
          <a:xfrm>
            <a:off x="4743450" y="3543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0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1c2942bd-23ab-456f-81b0-a2ee1e952faf"/>
          <p:cNvSpPr/>
          <p:nvPr/>
        </p:nvSpPr>
        <p:spPr>
          <a:xfrm>
            <a:off x="5200650" y="2286000"/>
            <a:ext cx="36361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Minimax</a:t>
            </a:r>
            <a:endParaRPr lang="en-US" sz="1130" dirty="0"/>
          </a:p>
        </p:txBody>
      </p:sp>
      <p:sp>
        <p:nvSpPr>
          <p:cNvPr id="20" name="2a6ad44d-0c53-4c3f-b45e-8cff4572d21d"/>
          <p:cNvSpPr/>
          <p:nvPr/>
        </p:nvSpPr>
        <p:spPr>
          <a:xfrm>
            <a:off x="5200650" y="2486025"/>
            <a:ext cx="36218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Recursive algorithm maximizing AI score while assuming human minimizes it.</a:t>
            </a:r>
            <a:endParaRPr lang="en-US" sz="900" dirty="0"/>
          </a:p>
        </p:txBody>
      </p:sp>
      <p:sp>
        <p:nvSpPr>
          <p:cNvPr id="21" name="629af3ed-9bae-47f5-954d-0f8cab70f817"/>
          <p:cNvSpPr/>
          <p:nvPr/>
        </p:nvSpPr>
        <p:spPr>
          <a:xfrm>
            <a:off x="5200650" y="3000375"/>
            <a:ext cx="35504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Depth Limit</a:t>
            </a:r>
            <a:endParaRPr lang="en-US" sz="1130" dirty="0"/>
          </a:p>
        </p:txBody>
      </p:sp>
      <p:sp>
        <p:nvSpPr>
          <p:cNvPr id="22" name="a67c06e4-6f88-44e8-9069-ade26c971247"/>
          <p:cNvSpPr/>
          <p:nvPr/>
        </p:nvSpPr>
        <p:spPr>
          <a:xfrm>
            <a:off x="5200650" y="3200400"/>
            <a:ext cx="35921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Set to 2–4 plies (half-moves) for responsive gameplay in Python.</a:t>
            </a:r>
            <a:endParaRPr lang="en-US" sz="900" dirty="0"/>
          </a:p>
        </p:txBody>
      </p:sp>
      <p:sp>
        <p:nvSpPr>
          <p:cNvPr id="23" name="1dca7573-0e7a-4145-b939-844039e7babb"/>
          <p:cNvSpPr/>
          <p:nvPr/>
        </p:nvSpPr>
        <p:spPr>
          <a:xfrm>
            <a:off x="5200650" y="3543300"/>
            <a:ext cx="30360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Recursive Branching</a:t>
            </a:r>
            <a:endParaRPr lang="en-US" sz="1130" dirty="0"/>
          </a:p>
        </p:txBody>
      </p:sp>
      <p:sp>
        <p:nvSpPr>
          <p:cNvPr id="24" name="ea9fffca-d721-451b-be08-f3d12e33b7ae"/>
          <p:cNvSpPr/>
          <p:nvPr/>
        </p:nvSpPr>
        <p:spPr>
          <a:xfrm>
            <a:off x="5200650" y="3743325"/>
            <a:ext cx="30764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5046">
                    <a:alpha val="7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Each node in the tree represents a potential board state.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9" grpId="0"/>
      <p:bldP spid="30" grpId="0"/>
      <p:bldP spid="5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dd989f-d052-4c50-ba8f-6331aaca5af3"/>
          <p:cNvSpPr/>
          <p:nvPr/>
        </p:nvSpPr>
        <p:spPr>
          <a:xfrm>
            <a:off x="342900" y="342900"/>
            <a:ext cx="84939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Timer, Workflow, Results, and Future Scope</a:t>
            </a:r>
            <a:endParaRPr lang="en-US" sz="2700" dirty="0"/>
          </a:p>
        </p:txBody>
      </p:sp>
      <p:grpSp>
        <p:nvGrpSpPr>
          <p:cNvPr id="20" name="group-GycHo91R9cad-lFNfi3KK"/>
          <p:cNvGrpSpPr/>
          <p:nvPr/>
        </p:nvGrpSpPr>
        <p:grpSpPr>
          <a:xfrm>
            <a:off x="342900" y="3514725"/>
            <a:ext cx="8465344" cy="1285875"/>
            <a:chOff x="342900" y="3514725"/>
            <a:chExt cx="8465344" cy="1285875"/>
          </a:xfrm>
        </p:grpSpPr>
        <p:sp>
          <p:nvSpPr>
            <p:cNvPr id="3" name="01661ab8-048f-4091-9c06-cd46a34bf142"/>
            <p:cNvSpPr/>
            <p:nvPr/>
          </p:nvSpPr>
          <p:spPr>
            <a:xfrm>
              <a:off x="342900" y="3514725"/>
              <a:ext cx="8465344" cy="1285875"/>
            </a:xfrm>
            <a:prstGeom prst="roundRect">
              <a:avLst>
                <a:gd name="adj" fmla="val 13333"/>
              </a:avLst>
            </a:prstGeom>
            <a:solidFill>
              <a:srgbClr val="005046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6" name="slidesai_USz1b2-k::icon-1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743325"/>
              <a:ext cx="228600" cy="228600"/>
            </a:xfrm>
            <a:prstGeom prst="rect">
              <a:avLst/>
            </a:prstGeom>
          </p:spPr>
        </p:pic>
        <p:sp>
          <p:nvSpPr>
            <p:cNvPr id="7" name="a989e20b-57c6-44c5-a7b6-2d8c0e87bc35"/>
            <p:cNvSpPr/>
            <p:nvPr/>
          </p:nvSpPr>
          <p:spPr>
            <a:xfrm>
              <a:off x="914400" y="3757613"/>
              <a:ext cx="989059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30" b="1" dirty="0">
                  <a:solidFill>
                    <a:srgbClr val="CCE6E1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Future Scope</a:t>
              </a:r>
              <a:endParaRPr lang="en-US" sz="1130" dirty="0"/>
            </a:p>
          </p:txBody>
        </p:sp>
        <p:sp>
          <p:nvSpPr>
            <p:cNvPr id="12" name="01b9bc40-8747-49a5-994c-a3a58b15a042"/>
            <p:cNvSpPr/>
            <p:nvPr/>
          </p:nvSpPr>
          <p:spPr>
            <a:xfrm>
              <a:off x="571500" y="4143375"/>
              <a:ext cx="2550319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90" b="1" dirty="0">
                  <a:solidFill>
                    <a:srgbClr val="CCE6E1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Alpha-Beta Pruning</a:t>
              </a:r>
              <a:endParaRPr lang="en-US" sz="790" dirty="0"/>
            </a:p>
          </p:txBody>
        </p:sp>
        <p:sp>
          <p:nvSpPr>
            <p:cNvPr id="13" name="b2ff486d-50f9-47e7-9797-ae84a091d0e3"/>
            <p:cNvSpPr/>
            <p:nvPr/>
          </p:nvSpPr>
          <p:spPr>
            <a:xfrm>
              <a:off x="571500" y="4343400"/>
              <a:ext cx="2550319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FFFFFF">
                      <a:alpha val="70000"/>
                    </a:srgbClr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Optimize Minimax search by skipping redundant branches.</a:t>
              </a:r>
              <a:endParaRPr lang="en-US" sz="680" dirty="0"/>
            </a:p>
          </p:txBody>
        </p:sp>
        <p:sp>
          <p:nvSpPr>
            <p:cNvPr id="14" name="a5e261ee-c35e-406d-bc78-43de4a557a86"/>
            <p:cNvSpPr/>
            <p:nvPr/>
          </p:nvSpPr>
          <p:spPr>
            <a:xfrm>
              <a:off x="3314700" y="4143375"/>
              <a:ext cx="2550319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90" b="1" dirty="0">
                  <a:solidFill>
                    <a:srgbClr val="CCE6E1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Opening Book</a:t>
              </a:r>
              <a:endParaRPr lang="en-US" sz="790" dirty="0"/>
            </a:p>
          </p:txBody>
        </p:sp>
        <p:sp>
          <p:nvSpPr>
            <p:cNvPr id="15" name="e5380881-3aa6-42fa-9393-7de6f7ca821c"/>
            <p:cNvSpPr/>
            <p:nvPr/>
          </p:nvSpPr>
          <p:spPr>
            <a:xfrm>
              <a:off x="3314700" y="4343400"/>
              <a:ext cx="2550319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FFFFFF">
                      <a:alpha val="70000"/>
                    </a:srgbClr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Database of standard starting moves to save computation.</a:t>
              </a:r>
              <a:endParaRPr lang="en-US" sz="680" dirty="0"/>
            </a:p>
          </p:txBody>
        </p:sp>
        <p:sp>
          <p:nvSpPr>
            <p:cNvPr id="16" name="1b278692-9684-471e-a708-0369a62c4cbd"/>
            <p:cNvSpPr/>
            <p:nvPr/>
          </p:nvSpPr>
          <p:spPr>
            <a:xfrm>
              <a:off x="6057900" y="4143375"/>
              <a:ext cx="2550319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90" b="1" dirty="0">
                  <a:solidFill>
                    <a:srgbClr val="CCE6E1"/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Transposition Tables</a:t>
              </a:r>
              <a:endParaRPr lang="en-US" sz="790" dirty="0"/>
            </a:p>
          </p:txBody>
        </p:sp>
        <p:sp>
          <p:nvSpPr>
            <p:cNvPr id="17" name="b3cebf80-4ca1-40ff-aee2-42259dc239d1"/>
            <p:cNvSpPr/>
            <p:nvPr/>
          </p:nvSpPr>
          <p:spPr>
            <a:xfrm>
              <a:off x="6057900" y="4343400"/>
              <a:ext cx="253603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898"/>
                </a:lnSpc>
                <a:buNone/>
              </a:pPr>
              <a:r>
                <a:rPr lang="en-US" sz="680" dirty="0">
                  <a:solidFill>
                    <a:srgbClr val="FFFFFF">
                      <a:alpha val="70000"/>
                    </a:srgbClr>
                  </a:solidFill>
                  <a:latin typeface="Merriweather Sans" pitchFamily="34" charset="0"/>
                  <a:ea typeface="Merriweather Sans" pitchFamily="34" charset="-122"/>
                  <a:cs typeface="Merriweather Sans" pitchFamily="34" charset="-120"/>
                </a:rPr>
                <a:t>Storing previously evaluated positions to avoid re-calculation.</a:t>
              </a:r>
              <a:endParaRPr lang="en-US" sz="680" dirty="0"/>
            </a:p>
          </p:txBody>
        </p:sp>
      </p:grpSp>
      <p:sp>
        <p:nvSpPr>
          <p:cNvPr id="4" name="18e547bc-d020-4504-b608-a331a66f312d"/>
          <p:cNvSpPr/>
          <p:nvPr/>
        </p:nvSpPr>
        <p:spPr>
          <a:xfrm>
            <a:off x="342900" y="1428750"/>
            <a:ext cx="407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" indent="-6858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10-Minute Timer:</a:t>
            </a:r>
            <a:r>
              <a:rPr lang="en-US" sz="900" dirty="0">
                <a:solidFill>
                  <a:srgbClr val="000000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 Dual-clock system with countdown threads.
</a:t>
            </a:r>
            <a:r>
              <a:rPr lang="en-US" sz="900" b="1" dirty="0">
                <a:solidFill>
                  <a:srgbClr val="000000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Workflow:</a:t>
            </a:r>
            <a:r>
              <a:rPr lang="en-US" sz="900" dirty="0">
                <a:solidFill>
                  <a:srgbClr val="000000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 Agile development (UI → Move Logic → AI Optimization).</a:t>
            </a:r>
            <a:endParaRPr lang="en-US" sz="900" dirty="0"/>
          </a:p>
        </p:txBody>
      </p:sp>
      <p:sp>
        <p:nvSpPr>
          <p:cNvPr id="5" name="43b17279-bb7d-4e74-b920-e1b4074a9f94"/>
          <p:cNvSpPr/>
          <p:nvPr/>
        </p:nvSpPr>
        <p:spPr>
          <a:xfrm>
            <a:off x="4743450" y="1428750"/>
            <a:ext cx="40790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7"/>
              </a:lnSpc>
              <a:buNone/>
            </a:pPr>
            <a:r>
              <a:rPr lang="en-US" sz="900" dirty="0">
                <a:solidFill>
                  <a:srgbClr val="005046">
                    <a:alpha val="80000"/>
                  </a:srgbClr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The project successfully produced a playable chess engine capable of defeating casual players. The modular design allows for easy debugging of specific piece rules without breaking the AI logic.</a:t>
            </a:r>
            <a:endParaRPr lang="en-US" sz="900" dirty="0"/>
          </a:p>
        </p:txBody>
      </p:sp>
      <p:pic>
        <p:nvPicPr>
          <p:cNvPr id="8" name="slidesai_USz1b2-k::icon-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028700"/>
            <a:ext cx="285750" cy="285750"/>
          </a:xfrm>
          <a:prstGeom prst="rect">
            <a:avLst/>
          </a:prstGeom>
        </p:spPr>
      </p:pic>
      <p:sp>
        <p:nvSpPr>
          <p:cNvPr id="9" name="d8158a93-6629-40e8-8176-cb3a2e941479"/>
          <p:cNvSpPr/>
          <p:nvPr/>
        </p:nvSpPr>
        <p:spPr>
          <a:xfrm>
            <a:off x="742950" y="1057275"/>
            <a:ext cx="15620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Execution</a:t>
            </a:r>
            <a:endParaRPr lang="en-US" sz="1350" dirty="0"/>
          </a:p>
        </p:txBody>
      </p:sp>
      <p:pic>
        <p:nvPicPr>
          <p:cNvPr id="10" name="slidesai_USz1b2-k::icon-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1028700"/>
            <a:ext cx="285750" cy="285750"/>
          </a:xfrm>
          <a:prstGeom prst="rect">
            <a:avLst/>
          </a:prstGeom>
        </p:spPr>
      </p:pic>
      <p:sp>
        <p:nvSpPr>
          <p:cNvPr id="11" name="0e7df4c1-39b0-488d-950c-ba77948a1cef"/>
          <p:cNvSpPr/>
          <p:nvPr/>
        </p:nvSpPr>
        <p:spPr>
          <a:xfrm>
            <a:off x="5143500" y="1057275"/>
            <a:ext cx="2037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04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Results and Conclusion</a:t>
            </a:r>
            <a:endParaRPr lang="en-US" sz="135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 tmFilter="0,0; 0.25,0.578; 0.5,0.875; 0.75,0.984; 1,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 tmFilter="0,0; 0.25,0.578; 0.5,0.875; 0.75,0.984; 1,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/>
      <p:bldP spid="4" grpId="0" animBg="1"/>
      <p:bldP spid="5" grpId="0" animBg="1"/>
      <p:bldP spid="8" grpId="0"/>
      <p:bldP spid="9" grpId="0" animBg="1"/>
      <p:bldP spid="10" grpId="0"/>
      <p:bldP spid="11" grpId="0" animBg="1"/>
    </p:bldLst>
  </p:timing>
</p:sld>
</file>

<file path=ppt/theme/theme1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rriweath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rriweather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629</Words>
  <Application>Microsoft Office PowerPoint</Application>
  <PresentationFormat>On-screen Show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Merriweather</vt:lpstr>
      <vt:lpstr>Merriweather Sans</vt:lpstr>
      <vt:lpstr>Arial</vt:lpstr>
      <vt:lpstr>SlidesAI Simple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6-slide presentation on "AI-Based Chess Engine in Python". Slide 1: Introduction and Problem Statement. Slide 2</dc:title>
  <dc:subject>PptxGenJS Presentation</dc:subject>
  <dc:creator>SlidesAI</dc:creator>
  <cp:lastModifiedBy>JAYANTA</cp:lastModifiedBy>
  <cp:revision>3</cp:revision>
  <dcterms:created xsi:type="dcterms:W3CDTF">2026-06-11T10:46:19Z</dcterms:created>
  <dcterms:modified xsi:type="dcterms:W3CDTF">2026-06-11T16:52:32Z</dcterms:modified>
</cp:coreProperties>
</file>